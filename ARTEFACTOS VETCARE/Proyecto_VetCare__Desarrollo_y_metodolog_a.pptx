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097000" y="-2095500"/>
            <a:ext cx="5905500" cy="5905500"/>
          </a:xfrm>
          <a:prstGeom prst="ellipse">
            <a:avLst/>
          </a:prstGeom>
          <a:solidFill>
            <a:srgbClr val="FFF2EB"/>
          </a:solidFill>
          <a:ln/>
        </p:spPr>
      </p:sp>
      <p:sp>
        <p:nvSpPr>
          <p:cNvPr id="3" name="Shape 1"/>
          <p:cNvSpPr/>
          <p:nvPr/>
        </p:nvSpPr>
        <p:spPr>
          <a:xfrm>
            <a:off x="12573000" y="8382000"/>
            <a:ext cx="3238500" cy="3238500"/>
          </a:xfrm>
          <a:prstGeom prst="ellipse">
            <a:avLst/>
          </a:prstGeom>
          <a:solidFill>
            <a:srgbClr val="F0FAE1"/>
          </a:solidFill>
          <a:ln/>
        </p:spPr>
      </p:sp>
      <p:sp>
        <p:nvSpPr>
          <p:cNvPr id="4" name="Shape 2"/>
          <p:cNvSpPr/>
          <p:nvPr/>
        </p:nvSpPr>
        <p:spPr>
          <a:xfrm>
            <a:off x="952500" y="2678906"/>
            <a:ext cx="12573000" cy="612428"/>
          </a:xfrm>
          <a:prstGeom prst="roundRect">
            <a:avLst>
              <a:gd name="adj" fmla="val 50000"/>
            </a:avLst>
          </a:prstGeom>
          <a:solidFill>
            <a:srgbClr val="FFF2E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793206"/>
            <a:ext cx="1245489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64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Sustentación de proyecto de software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3558034"/>
            <a:ext cx="1383030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51"/>
              </a:lnSpc>
              <a:buNone/>
            </a:pPr>
            <a:r>
              <a:rPr lang="en-US" sz="11700" spc="-175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VetCare</a:t>
            </a:r>
            <a:endParaRPr lang="en-US" sz="11700" dirty="0"/>
          </a:p>
        </p:txBody>
      </p:sp>
      <p:sp>
        <p:nvSpPr>
          <p:cNvPr id="7" name="Text 5"/>
          <p:cNvSpPr/>
          <p:nvPr/>
        </p:nvSpPr>
        <p:spPr>
          <a:xfrm>
            <a:off x="952500" y="5310634"/>
            <a:ext cx="10791825" cy="121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30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Gestión Veterinaria — desarrollo, metodología y artefactos de ingeniería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52500" y="7253734"/>
            <a:ext cx="386226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Arcalle Grefa Darwin Orlando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20853" y="7253734"/>
            <a:ext cx="4112582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Coronel Gomez Khriz Alexander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16764" y="7253734"/>
            <a:ext cx="319874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Quintero Rico Luis David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481917" y="7253734"/>
            <a:ext cx="3337902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Sanchez Vera Darwin Joel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4716125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de una clínica veterinaria pequeña sigue siendo manual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52500" y="3339554"/>
            <a:ext cx="8510059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Muchos establecimientos veterinarios de pequeña y mediana escala gestionan sus actividades con hojas de cálculo y agendas físicas, herramientas genéricas que no fueron pensadas para el negocio clínico.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52500" y="5301704"/>
            <a:ext cx="851005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se traduce en consecuencias operativas concretas y recurrentes.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824293" y="3339554"/>
            <a:ext cx="7511207" cy="925711"/>
          </a:xfrm>
          <a:prstGeom prst="roundRect">
            <a:avLst>
              <a:gd name="adj" fmla="val 28810"/>
            </a:avLst>
          </a:prstGeom>
          <a:solidFill>
            <a:srgbClr val="EBDDC5"/>
          </a:solidFill>
          <a:ln/>
        </p:spPr>
      </p:sp>
      <p:sp>
        <p:nvSpPr>
          <p:cNvPr id="7" name="Shape 5"/>
          <p:cNvSpPr/>
          <p:nvPr/>
        </p:nvSpPr>
        <p:spPr>
          <a:xfrm>
            <a:off x="10148143" y="3735735"/>
            <a:ext cx="133350" cy="13335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8" name="Text 6"/>
          <p:cNvSpPr/>
          <p:nvPr/>
        </p:nvSpPr>
        <p:spPr>
          <a:xfrm>
            <a:off x="10491043" y="3625304"/>
            <a:ext cx="498843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Inconsistencias en los registros clínicos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824293" y="4455765"/>
            <a:ext cx="7511207" cy="925711"/>
          </a:xfrm>
          <a:prstGeom prst="roundRect">
            <a:avLst>
              <a:gd name="adj" fmla="val 28810"/>
            </a:avLst>
          </a:prstGeom>
          <a:solidFill>
            <a:srgbClr val="EBDDC5"/>
          </a:solidFill>
          <a:ln/>
        </p:spPr>
      </p:sp>
      <p:sp>
        <p:nvSpPr>
          <p:cNvPr id="10" name="Shape 8"/>
          <p:cNvSpPr/>
          <p:nvPr/>
        </p:nvSpPr>
        <p:spPr>
          <a:xfrm>
            <a:off x="10148143" y="4851946"/>
            <a:ext cx="133350" cy="13335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1" name="Text 9"/>
          <p:cNvSpPr/>
          <p:nvPr/>
        </p:nvSpPr>
        <p:spPr>
          <a:xfrm>
            <a:off x="10491043" y="4741515"/>
            <a:ext cx="648933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Pérdida de información de pacientes y propietarios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824293" y="5571976"/>
            <a:ext cx="7511207" cy="925711"/>
          </a:xfrm>
          <a:prstGeom prst="roundRect">
            <a:avLst>
              <a:gd name="adj" fmla="val 28810"/>
            </a:avLst>
          </a:prstGeom>
          <a:solidFill>
            <a:srgbClr val="EBDDC5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48143" y="5968157"/>
            <a:ext cx="133350" cy="13335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4" name="Text 12"/>
          <p:cNvSpPr/>
          <p:nvPr/>
        </p:nvSpPr>
        <p:spPr>
          <a:xfrm>
            <a:off x="10491043" y="5857726"/>
            <a:ext cx="417413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Demoras en la atención al cliente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24293" y="6688187"/>
            <a:ext cx="7511207" cy="925711"/>
          </a:xfrm>
          <a:prstGeom prst="roundRect">
            <a:avLst>
              <a:gd name="adj" fmla="val 28810"/>
            </a:avLst>
          </a:prstGeom>
          <a:solidFill>
            <a:srgbClr val="EBDDC5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48143" y="7084368"/>
            <a:ext cx="133350" cy="13335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7" name="Text 15"/>
          <p:cNvSpPr/>
          <p:nvPr/>
        </p:nvSpPr>
        <p:spPr>
          <a:xfrm>
            <a:off x="10491043" y="6973937"/>
            <a:ext cx="516933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Dificultades en el proceso de facturación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A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4716125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de escritorio que centraliza la información y automatiza los procesos clave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39554"/>
            <a:ext cx="5206901" cy="2788890"/>
          </a:xfrm>
          <a:prstGeom prst="roundRect">
            <a:avLst>
              <a:gd name="adj" fmla="val 9563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14450" y="3758654"/>
            <a:ext cx="4931301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Centralizar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14450" y="4337745"/>
            <a:ext cx="4617491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repositorio único de pacientes, historiales, inventario y facturación, en lugar de hojas sueltas y agendas físicas.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40401" y="3339554"/>
            <a:ext cx="5207050" cy="2788890"/>
          </a:xfrm>
          <a:prstGeom prst="roundRect">
            <a:avLst>
              <a:gd name="adj" fmla="val 9563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02351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902351" y="4337745"/>
            <a:ext cx="4617644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procesos clave del negocio veterinario — citas, descuentos de inventario, facturación — dejan de depender de tareas manuales.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128450" y="3339554"/>
            <a:ext cx="5207050" cy="2788890"/>
          </a:xfrm>
          <a:prstGeom prst="roundRect">
            <a:avLst>
              <a:gd name="adj" fmla="val 9563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490400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Mejorar el servicio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490400" y="4337745"/>
            <a:ext cx="46176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demoras y errores en la atención, más eficiencia para recepción, veterinarios y administración.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del sistema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6874490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módulos funcionales para el ciclo completo de atención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39554"/>
            <a:ext cx="3078361" cy="3439269"/>
          </a:xfrm>
          <a:prstGeom prst="roundRect">
            <a:avLst>
              <a:gd name="adj" fmla="val 8664"/>
            </a:avLst>
          </a:prstGeom>
          <a:solidFill>
            <a:srgbClr val="EBDDC5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663404"/>
            <a:ext cx="2841367" cy="717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34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200150" y="4513957"/>
            <a:ext cx="2660553" cy="592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y Propietarios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00150" y="5239941"/>
            <a:ext cx="2660553" cy="949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2"/>
              </a:lnSpc>
              <a:buNone/>
            </a:pPr>
            <a:r>
              <a:rPr lang="en-US" sz="165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Registro, consulta y actualización de mascotas y dueños.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278511" y="3339554"/>
            <a:ext cx="3078510" cy="3439269"/>
          </a:xfrm>
          <a:prstGeom prst="roundRect">
            <a:avLst>
              <a:gd name="adj" fmla="val 8663"/>
            </a:avLst>
          </a:prstGeom>
          <a:solidFill>
            <a:srgbClr val="EBDDC5"/>
          </a:solidFill>
          <a:ln/>
        </p:spPr>
      </p:sp>
      <p:sp>
        <p:nvSpPr>
          <p:cNvPr id="9" name="Text 7"/>
          <p:cNvSpPr/>
          <p:nvPr/>
        </p:nvSpPr>
        <p:spPr>
          <a:xfrm>
            <a:off x="4526161" y="3663404"/>
            <a:ext cx="2841531" cy="717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34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4526161" y="4513957"/>
            <a:ext cx="284153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y Citas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526161" y="4962674"/>
            <a:ext cx="2660706" cy="1253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2"/>
              </a:lnSpc>
              <a:buNone/>
            </a:pPr>
            <a:r>
              <a:rPr lang="en-US" sz="165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Programación, modificación y cancelación con verificación de disponibilidad.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604671" y="3339554"/>
            <a:ext cx="3078510" cy="3439269"/>
          </a:xfrm>
          <a:prstGeom prst="roundRect">
            <a:avLst>
              <a:gd name="adj" fmla="val 8663"/>
            </a:avLst>
          </a:prstGeom>
          <a:solidFill>
            <a:srgbClr val="EBDDC5"/>
          </a:solidFill>
          <a:ln/>
        </p:spPr>
      </p:sp>
      <p:sp>
        <p:nvSpPr>
          <p:cNvPr id="13" name="Text 11"/>
          <p:cNvSpPr/>
          <p:nvPr/>
        </p:nvSpPr>
        <p:spPr>
          <a:xfrm>
            <a:off x="7852321" y="3663404"/>
            <a:ext cx="2841531" cy="717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34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7852321" y="4513957"/>
            <a:ext cx="284153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Clínico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852321" y="4962674"/>
            <a:ext cx="2660706" cy="949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2"/>
              </a:lnSpc>
              <a:buNone/>
            </a:pPr>
            <a:r>
              <a:rPr lang="en-US" sz="165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Consultas, diagnósticos, tratamientos, vacunas y exámenes por paciente.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0930830" y="3339554"/>
            <a:ext cx="3078510" cy="3439269"/>
          </a:xfrm>
          <a:prstGeom prst="roundRect">
            <a:avLst>
              <a:gd name="adj" fmla="val 8663"/>
            </a:avLst>
          </a:prstGeom>
          <a:solidFill>
            <a:srgbClr val="EBDDC5"/>
          </a:solidFill>
          <a:ln/>
        </p:spPr>
      </p:sp>
      <p:sp>
        <p:nvSpPr>
          <p:cNvPr id="17" name="Text 15"/>
          <p:cNvSpPr/>
          <p:nvPr/>
        </p:nvSpPr>
        <p:spPr>
          <a:xfrm>
            <a:off x="11178480" y="3663404"/>
            <a:ext cx="2841531" cy="717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34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178480" y="4513957"/>
            <a:ext cx="2660706" cy="592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y Medicamentos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178480" y="5239941"/>
            <a:ext cx="2660706" cy="1253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2"/>
              </a:lnSpc>
              <a:buNone/>
            </a:pPr>
            <a:r>
              <a:rPr lang="en-US" sz="165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stock de medicamentos, insumos y vacunas con alertas de nivel mínimo.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4256990" y="3339554"/>
            <a:ext cx="3078510" cy="3439269"/>
          </a:xfrm>
          <a:prstGeom prst="roundRect">
            <a:avLst>
              <a:gd name="adj" fmla="val 8663"/>
            </a:avLst>
          </a:prstGeom>
          <a:solidFill>
            <a:srgbClr val="EBDDC5"/>
          </a:solidFill>
          <a:ln/>
        </p:spPr>
      </p:sp>
      <p:sp>
        <p:nvSpPr>
          <p:cNvPr id="21" name="Text 19"/>
          <p:cNvSpPr/>
          <p:nvPr/>
        </p:nvSpPr>
        <p:spPr>
          <a:xfrm>
            <a:off x="14504640" y="3663404"/>
            <a:ext cx="2841531" cy="717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34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4504640" y="4513957"/>
            <a:ext cx="2660706" cy="592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Facturación y Reportes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4504640" y="5239941"/>
            <a:ext cx="2660706" cy="1253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2"/>
              </a:lnSpc>
              <a:buNone/>
            </a:pPr>
            <a:r>
              <a:rPr lang="en-US" sz="1650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de facturas, registro de pagos y reportes de ingresos por período.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acceso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4716125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roles de personal, con permisos diferenciados por diseño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39554"/>
            <a:ext cx="5206901" cy="2103090"/>
          </a:xfrm>
          <a:prstGeom prst="roundRect">
            <a:avLst>
              <a:gd name="adj" fmla="val 12681"/>
            </a:avLst>
          </a:prstGeom>
          <a:solidFill>
            <a:srgbClr val="FFF2EB"/>
          </a:solidFill>
          <a:ln/>
        </p:spPr>
      </p:sp>
      <p:sp>
        <p:nvSpPr>
          <p:cNvPr id="5" name="Text 3"/>
          <p:cNvSpPr/>
          <p:nvPr/>
        </p:nvSpPr>
        <p:spPr>
          <a:xfrm>
            <a:off x="1314450" y="3758654"/>
            <a:ext cx="4931301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Recepcionista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14450" y="4337745"/>
            <a:ext cx="461749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Pacientes, agenda y facturación: la puerta de entrada operativa de la clínica.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40401" y="3339554"/>
            <a:ext cx="5207050" cy="2103090"/>
          </a:xfrm>
          <a:prstGeom prst="roundRect">
            <a:avLst>
              <a:gd name="adj" fmla="val 12681"/>
            </a:avLst>
          </a:prstGeom>
          <a:solidFill>
            <a:srgbClr val="FFF2EB"/>
          </a:solidFill>
          <a:ln/>
        </p:spPr>
      </p:sp>
      <p:sp>
        <p:nvSpPr>
          <p:cNvPr id="8" name="Text 6"/>
          <p:cNvSpPr/>
          <p:nvPr/>
        </p:nvSpPr>
        <p:spPr>
          <a:xfrm>
            <a:off x="6902351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Veterinario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902351" y="4337745"/>
            <a:ext cx="461764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clínico, consultas, vacunas y exámenes de laboratorio.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128450" y="3339554"/>
            <a:ext cx="5207050" cy="2103090"/>
          </a:xfrm>
          <a:prstGeom prst="roundRect">
            <a:avLst>
              <a:gd name="adj" fmla="val 12681"/>
            </a:avLst>
          </a:prstGeom>
          <a:solidFill>
            <a:srgbClr val="FFF2E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0400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490400" y="4337745"/>
            <a:ext cx="461764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Inventario, reportes y, con la ampliación de alcance, cuentas de usuario.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" y="9045178"/>
            <a:ext cx="180213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i="1" dirty="0">
                <a:solidFill>
                  <a:srgbClr val="827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diseño original, el propietario de la mascota no es usuario del sistema — atendido siempre por el personal de la clínica.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8C4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0" y="7810500"/>
            <a:ext cx="4953000" cy="4953000"/>
          </a:xfrm>
          <a:prstGeom prst="ellipse">
            <a:avLst/>
          </a:prstGeom>
          <a:solidFill>
            <a:srgbClr val="643312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2980432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52500" y="3535710"/>
            <a:ext cx="16764000" cy="1062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45"/>
              </a:lnSpc>
              <a:buNone/>
            </a:pPr>
            <a:r>
              <a:rPr lang="en-US" sz="7200" spc="-108" kern="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en Cascada Clásico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52500" y="4883646"/>
            <a:ext cx="1275397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3333"/>
              </a:lnSpc>
              <a:buNone/>
            </a:pPr>
            <a:r>
              <a:rPr lang="en-US" sz="30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flujo secuencial y lineal: cada fase del ciclo de vida se completa y se revisa en su totalidad antes de avanzar a la siguiente.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" y="6685657"/>
            <a:ext cx="1955304" cy="620911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819007"/>
            <a:ext cx="149810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spc="36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79254" y="6685657"/>
            <a:ext cx="2314426" cy="620911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9" name="Text 7"/>
          <p:cNvSpPr/>
          <p:nvPr/>
        </p:nvSpPr>
        <p:spPr>
          <a:xfrm>
            <a:off x="3345954" y="6819007"/>
            <a:ext cx="185722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spc="36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y Diseño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565130" y="6685657"/>
            <a:ext cx="1971526" cy="620911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11" name="Text 9"/>
          <p:cNvSpPr/>
          <p:nvPr/>
        </p:nvSpPr>
        <p:spPr>
          <a:xfrm>
            <a:off x="5831830" y="6819007"/>
            <a:ext cx="151432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spc="36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08106" y="6685657"/>
            <a:ext cx="1383655" cy="620911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74806" y="6819007"/>
            <a:ext cx="92645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spc="36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63211" y="6685657"/>
            <a:ext cx="2250430" cy="620911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15" name="Text 13"/>
          <p:cNvSpPr/>
          <p:nvPr/>
        </p:nvSpPr>
        <p:spPr>
          <a:xfrm>
            <a:off x="9529911" y="6819007"/>
            <a:ext cx="179323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spc="36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del enfoque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6764000" cy="763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cascada, y no un enfoque iterativo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2614166"/>
            <a:ext cx="5206901" cy="38100"/>
          </a:xfrm>
          <a:prstGeom prst="rect">
            <a:avLst/>
          </a:prstGeom>
          <a:solidFill>
            <a:srgbClr val="C67139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2899916"/>
            <a:ext cx="5727591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estables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52500" y="3479006"/>
            <a:ext cx="5363108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procesos de una clínica veterinaria son universales y están bien definidos desde el inicio: sin la incertidumbre que justificaría iterar.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40401" y="2614166"/>
            <a:ext cx="5207050" cy="38100"/>
          </a:xfrm>
          <a:prstGeom prst="rect">
            <a:avLst/>
          </a:prstGeom>
          <a:solidFill>
            <a:srgbClr val="C67139"/>
          </a:solidFill>
          <a:ln/>
        </p:spPr>
      </p:sp>
      <p:sp>
        <p:nvSpPr>
          <p:cNvPr id="8" name="Text 6"/>
          <p:cNvSpPr/>
          <p:nvPr/>
        </p:nvSpPr>
        <p:spPr>
          <a:xfrm>
            <a:off x="6540401" y="2899916"/>
            <a:ext cx="572775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fijo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40401" y="3479006"/>
            <a:ext cx="5363261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módulos exactos, definidos desde el día uno — la arquitectura completa puede planificarse sin improvisar.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128450" y="2614166"/>
            <a:ext cx="5207050" cy="38100"/>
          </a:xfrm>
          <a:prstGeom prst="rect">
            <a:avLst/>
          </a:prstGeom>
          <a:solidFill>
            <a:srgbClr val="C67139"/>
          </a:solidFill>
          <a:ln/>
        </p:spPr>
      </p:sp>
      <p:sp>
        <p:nvSpPr>
          <p:cNvPr id="11" name="Text 9"/>
          <p:cNvSpPr/>
          <p:nvPr/>
        </p:nvSpPr>
        <p:spPr>
          <a:xfrm>
            <a:off x="12128450" y="2899916"/>
            <a:ext cx="572775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Rigurosidad documental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128450" y="3479006"/>
            <a:ext cx="5363261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artefactos formales exigen que cada fase produzca entregables que sirven de base obligatoria para la siguiente.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5697200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fases secuenciales, trece semanas de plazo fijo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276350" y="3853904"/>
            <a:ext cx="15735300" cy="38100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5" name="Shape 3"/>
          <p:cNvSpPr/>
          <p:nvPr/>
        </p:nvSpPr>
        <p:spPr>
          <a:xfrm>
            <a:off x="952500" y="3530054"/>
            <a:ext cx="647700" cy="64770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530054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52500" y="4387304"/>
            <a:ext cx="3386197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52500" y="4874121"/>
            <a:ext cx="3170712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75"/>
              </a:lnSpc>
              <a:buNone/>
            </a:pPr>
            <a:r>
              <a:rPr lang="en-US" sz="1575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Levantamiento del SRS y modelado de procesos: casos de uso y DFD.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4278511" y="3530054"/>
            <a:ext cx="647700" cy="64770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0" name="Text 8"/>
          <p:cNvSpPr/>
          <p:nvPr/>
        </p:nvSpPr>
        <p:spPr>
          <a:xfrm>
            <a:off x="4240411" y="3530054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278511" y="4387304"/>
            <a:ext cx="338636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y Diseño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278511" y="4874121"/>
            <a:ext cx="317086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75"/>
              </a:lnSpc>
              <a:buNone/>
            </a:pPr>
            <a:r>
              <a:rPr lang="en-US" sz="1575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Arquitectura, interfaces, clases/secuencias, modelos conceptual, lógico y físico de BD.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7604671" y="3530054"/>
            <a:ext cx="647700" cy="64770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4" name="Text 12"/>
          <p:cNvSpPr/>
          <p:nvPr/>
        </p:nvSpPr>
        <p:spPr>
          <a:xfrm>
            <a:off x="7566571" y="3530054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604671" y="4387304"/>
            <a:ext cx="338636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04671" y="4874121"/>
            <a:ext cx="317086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75"/>
              </a:lnSpc>
              <a:buNone/>
            </a:pPr>
            <a:r>
              <a:rPr lang="en-US" sz="1575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Codificación continua de los cinco módulos, exclusivamente sobre lo aprobado.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10930830" y="3530054"/>
            <a:ext cx="647700" cy="64770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18" name="Text 16"/>
          <p:cNvSpPr/>
          <p:nvPr/>
        </p:nvSpPr>
        <p:spPr>
          <a:xfrm>
            <a:off x="10892730" y="3530054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930830" y="4387304"/>
            <a:ext cx="338636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930830" y="4874121"/>
            <a:ext cx="317086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75"/>
              </a:lnSpc>
              <a:buNone/>
            </a:pPr>
            <a:r>
              <a:rPr lang="en-US" sz="1575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unitarias, integrales y de regresión al cierre de la construcción.</a:t>
            </a:r>
            <a:endParaRPr lang="en-US" sz="1575" dirty="0"/>
          </a:p>
        </p:txBody>
      </p:sp>
      <p:sp>
        <p:nvSpPr>
          <p:cNvPr id="21" name="Shape 19"/>
          <p:cNvSpPr/>
          <p:nvPr/>
        </p:nvSpPr>
        <p:spPr>
          <a:xfrm>
            <a:off x="14256990" y="3530054"/>
            <a:ext cx="647700" cy="647700"/>
          </a:xfrm>
          <a:prstGeom prst="ellipse">
            <a:avLst/>
          </a:prstGeom>
          <a:solidFill>
            <a:srgbClr val="C67139"/>
          </a:solidFill>
          <a:ln/>
        </p:spPr>
      </p:sp>
      <p:sp>
        <p:nvSpPr>
          <p:cNvPr id="22" name="Text 20"/>
          <p:cNvSpPr/>
          <p:nvPr/>
        </p:nvSpPr>
        <p:spPr>
          <a:xfrm>
            <a:off x="14218890" y="3530054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14256990" y="4387304"/>
            <a:ext cx="3386361" cy="315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935"/>
              </a:lnSpc>
              <a:buNone/>
            </a:pPr>
            <a:r>
              <a:rPr lang="en-US" sz="1950" spc="-2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256990" y="4874121"/>
            <a:ext cx="3170865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75"/>
              </a:lnSpc>
              <a:buNone/>
            </a:pPr>
            <a:r>
              <a:rPr lang="en-US" sz="1575" dirty="0">
                <a:solidFill>
                  <a:srgbClr val="645C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final, manual de usuario y capacitación.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enfoque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4716125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planificación lineal, más fácil de medir y de gestionar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39554"/>
            <a:ext cx="5206901" cy="2445990"/>
          </a:xfrm>
          <a:prstGeom prst="roundRect">
            <a:avLst>
              <a:gd name="adj" fmla="val 10904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14450" y="3758654"/>
            <a:ext cx="4931301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robusto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14450" y="4337745"/>
            <a:ext cx="4617491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codificación no inicia hasta tener BD y arquitectura 100% aprobadas: se minimiza el riesgo de refactorizar.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40401" y="3339554"/>
            <a:ext cx="5207050" cy="2445990"/>
          </a:xfrm>
          <a:prstGeom prst="roundRect">
            <a:avLst>
              <a:gd name="adj" fmla="val 10904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02351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Claridad en la medición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902351" y="4337745"/>
            <a:ext cx="46176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 secuenciales dentro del plazo de 13 semanas hacen sencillo medir el avance real frente al cronograma.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128450" y="3339554"/>
            <a:ext cx="5207050" cy="2445990"/>
          </a:xfrm>
          <a:prstGeom prst="roundRect">
            <a:avLst>
              <a:gd name="adj" fmla="val 10904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490400" y="3758654"/>
            <a:ext cx="4931465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556"/>
              </a:lnSpc>
              <a:buNone/>
            </a:pPr>
            <a:r>
              <a:rPr lang="en-US" sz="3000" spc="-45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Facilidad de gestión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490400" y="4337745"/>
            <a:ext cx="46176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estructura lineal e intuitiva facilita distribuir responsabilidades y sustentar el proyecto.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de ingeniería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5697200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artefactos formales, en nueve categorías documentales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39554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587204"/>
            <a:ext cx="41031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743819" y="3638848"/>
            <a:ext cx="4470291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Especificación de Requisitos de Software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6489650" y="3339554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8" name="Text 6"/>
          <p:cNvSpPr/>
          <p:nvPr/>
        </p:nvSpPr>
        <p:spPr>
          <a:xfrm>
            <a:off x="6756350" y="3587204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89899" y="3638848"/>
            <a:ext cx="4350782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Casos de Uso (5 módulos)</a:t>
            </a:r>
            <a:endParaRPr lang="en-US" sz="1725" dirty="0"/>
          </a:p>
        </p:txBody>
      </p:sp>
      <p:sp>
        <p:nvSpPr>
          <p:cNvPr id="10" name="Shape 8"/>
          <p:cNvSpPr/>
          <p:nvPr/>
        </p:nvSpPr>
        <p:spPr>
          <a:xfrm>
            <a:off x="12026801" y="3339554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11" name="Text 9"/>
          <p:cNvSpPr/>
          <p:nvPr/>
        </p:nvSpPr>
        <p:spPr>
          <a:xfrm>
            <a:off x="12293501" y="3587204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827050" y="3638848"/>
            <a:ext cx="4406607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Flujo de Datos (Nivel 0 y 1)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952500" y="4506367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4754017"/>
            <a:ext cx="41671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750219" y="4805660"/>
            <a:ext cx="3728025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Arquitectónico del Sistema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6489650" y="4506367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17" name="Text 15"/>
          <p:cNvSpPr/>
          <p:nvPr/>
        </p:nvSpPr>
        <p:spPr>
          <a:xfrm>
            <a:off x="6756350" y="4754017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89899" y="4805660"/>
            <a:ext cx="4287098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Conceptual de la Base de Datos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6801" y="4506367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20" name="Text 18"/>
          <p:cNvSpPr/>
          <p:nvPr/>
        </p:nvSpPr>
        <p:spPr>
          <a:xfrm>
            <a:off x="12293501" y="4754017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827050" y="4805660"/>
            <a:ext cx="3765843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Lógico de la Base de Datos</a:t>
            </a:r>
            <a:endParaRPr lang="en-US" sz="1725" dirty="0"/>
          </a:p>
        </p:txBody>
      </p:sp>
      <p:sp>
        <p:nvSpPr>
          <p:cNvPr id="22" name="Shape 20"/>
          <p:cNvSpPr/>
          <p:nvPr/>
        </p:nvSpPr>
        <p:spPr>
          <a:xfrm>
            <a:off x="952500" y="5673179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23" name="Text 21"/>
          <p:cNvSpPr/>
          <p:nvPr/>
        </p:nvSpPr>
        <p:spPr>
          <a:xfrm>
            <a:off x="1219200" y="5920829"/>
            <a:ext cx="41597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749475" y="5972473"/>
            <a:ext cx="3658285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Físico de la Base de Datos</a:t>
            </a:r>
            <a:endParaRPr lang="en-US" sz="1725" dirty="0"/>
          </a:p>
        </p:txBody>
      </p:sp>
      <p:sp>
        <p:nvSpPr>
          <p:cNvPr id="25" name="Shape 23"/>
          <p:cNvSpPr/>
          <p:nvPr/>
        </p:nvSpPr>
        <p:spPr>
          <a:xfrm>
            <a:off x="6489650" y="5673179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26" name="Text 24"/>
          <p:cNvSpPr/>
          <p:nvPr/>
        </p:nvSpPr>
        <p:spPr>
          <a:xfrm>
            <a:off x="6756350" y="5920829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289899" y="5972473"/>
            <a:ext cx="3524369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Clases por módulo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12026801" y="5673179"/>
            <a:ext cx="5308550" cy="938213"/>
          </a:xfrm>
          <a:prstGeom prst="roundRect">
            <a:avLst>
              <a:gd name="adj" fmla="val 16244"/>
            </a:avLst>
          </a:prstGeom>
          <a:solidFill>
            <a:srgbClr val="EBDDC5"/>
          </a:solidFill>
          <a:ln/>
        </p:spPr>
      </p:sp>
      <p:sp>
        <p:nvSpPr>
          <p:cNvPr id="29" name="Text 27"/>
          <p:cNvSpPr/>
          <p:nvPr/>
        </p:nvSpPr>
        <p:spPr>
          <a:xfrm>
            <a:off x="12293501" y="5920829"/>
            <a:ext cx="419249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827050" y="5972473"/>
            <a:ext cx="2610371" cy="377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37"/>
              </a:lnSpc>
              <a:buNone/>
            </a:pPr>
            <a:r>
              <a:rPr lang="en-US" sz="17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Despliegue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técnico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5697200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capas, con Supabase como backend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3359051"/>
            <a:ext cx="14287500" cy="1162050"/>
          </a:xfrm>
          <a:prstGeom prst="roundRect">
            <a:avLst>
              <a:gd name="adj" fmla="val 22951"/>
            </a:avLst>
          </a:prstGeom>
          <a:solidFill>
            <a:srgbClr val="FFF2E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644801"/>
            <a:ext cx="2769007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300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744349" y="3762970"/>
            <a:ext cx="452611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— React + TypeScript + Material UI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38125" y="4711601"/>
            <a:ext cx="1571625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A197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5374481"/>
            <a:ext cx="14287500" cy="1162050"/>
          </a:xfrm>
          <a:prstGeom prst="roundRect">
            <a:avLst>
              <a:gd name="adj" fmla="val 22951"/>
            </a:avLst>
          </a:prstGeom>
          <a:solidFill>
            <a:srgbClr val="F0FAE1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660231"/>
            <a:ext cx="195667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300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29068" y="5778401"/>
            <a:ext cx="54229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— Auth · PostgREST · Edge Functions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8125" y="6727031"/>
            <a:ext cx="1571625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A197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7389912"/>
            <a:ext cx="14287500" cy="1162050"/>
          </a:xfrm>
          <a:prstGeom prst="roundRect">
            <a:avLst>
              <a:gd name="adj" fmla="val 22951"/>
            </a:avLst>
          </a:prstGeom>
          <a:solidFill>
            <a:srgbClr val="474238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675662"/>
            <a:ext cx="118318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300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288786" y="7793831"/>
            <a:ext cx="50272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DCD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— Row Level Security y triggers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" y="8952607"/>
            <a:ext cx="1004292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1575" y="9076432"/>
            <a:ext cx="64234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2109192" y="8952607"/>
            <a:ext cx="1506438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28267" y="9076432"/>
            <a:ext cx="114448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3768030" y="8952607"/>
            <a:ext cx="841921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87105" y="9076432"/>
            <a:ext cx="479971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4762351" y="8952607"/>
            <a:ext cx="1490663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1426" y="9076432"/>
            <a:ext cx="112871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UI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5414" y="8952607"/>
            <a:ext cx="1389757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4489" y="9076432"/>
            <a:ext cx="1027807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47571" y="8952607"/>
            <a:ext cx="1606600" cy="572393"/>
          </a:xfrm>
          <a:prstGeom prst="roundRect">
            <a:avLst>
              <a:gd name="adj" fmla="val 50000"/>
            </a:avLst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66646" y="9076432"/>
            <a:ext cx="12446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706570" y="8952607"/>
            <a:ext cx="737890" cy="572393"/>
          </a:xfrm>
          <a:prstGeom prst="ellipse">
            <a:avLst/>
          </a:prstGeom>
          <a:ln w="9525">
            <a:solidFill>
              <a:srgbClr val="C6713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25645" y="9076432"/>
            <a:ext cx="37594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1154"/>
              </a:lnSpc>
              <a:buNone/>
            </a:pPr>
            <a:r>
              <a:rPr lang="en-US" sz="1650" spc="33" kern="0" dirty="0">
                <a:solidFill>
                  <a:srgbClr val="C67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C4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datos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5697200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garantizada dentro de la base de datos, no solo en pantalla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52500" y="5603528"/>
            <a:ext cx="476994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270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24744" y="5603528"/>
            <a:ext cx="755351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 normalizadas; ninguna admite borrado físico — bajas y cancelaciones son cambios de estado.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429750" y="5603528"/>
            <a:ext cx="372070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270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897070" y="5603528"/>
            <a:ext cx="766158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trigger descuenta inventario automáticamente al aplicar una vacuna, en la misma transacción.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6575078"/>
            <a:ext cx="372070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270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19820" y="6575078"/>
            <a:ext cx="766158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restricción de exclusión impide que un veterinario tenga dos citas superpuestas.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29750" y="6575078"/>
            <a:ext cx="372070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2700" dirty="0">
                <a:solidFill>
                  <a:srgbClr val="FFE1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897070" y="6575078"/>
            <a:ext cx="766158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8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 aplica el permiso por rol directamente en PostgreSQL, no solo ocultando botones.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especificación al sistema construido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6187738" cy="1488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creció módulo por módulo, siguiendo siempre el mismo patrón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52500" y="4206032"/>
            <a:ext cx="240982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del SRS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3429000" y="4011364"/>
            <a:ext cx="13906500" cy="773311"/>
          </a:xfrm>
          <a:prstGeom prst="roundRect">
            <a:avLst>
              <a:gd name="adj" fmla="val 19707"/>
            </a:avLst>
          </a:prstGeom>
          <a:solidFill>
            <a:srgbClr val="EBDDC5"/>
          </a:solidFill>
          <a:ln/>
        </p:spPr>
      </p:sp>
      <p:sp>
        <p:nvSpPr>
          <p:cNvPr id="6" name="Text 4"/>
          <p:cNvSpPr/>
          <p:nvPr/>
        </p:nvSpPr>
        <p:spPr>
          <a:xfrm>
            <a:off x="3714750" y="4220914"/>
            <a:ext cx="137521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1–5 — Pacientes, Agenda, Historial, Inventario, Facturación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2500" y="5188893"/>
            <a:ext cx="240982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Ampliación 1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429000" y="4994225"/>
            <a:ext cx="13906500" cy="773311"/>
          </a:xfrm>
          <a:prstGeom prst="roundRect">
            <a:avLst>
              <a:gd name="adj" fmla="val 19707"/>
            </a:avLst>
          </a:prstGeom>
          <a:solidFill>
            <a:srgbClr val="FFF2EB"/>
          </a:solidFill>
          <a:ln/>
        </p:spPr>
      </p:sp>
      <p:sp>
        <p:nvSpPr>
          <p:cNvPr id="9" name="Text 7"/>
          <p:cNvSpPr/>
          <p:nvPr/>
        </p:nvSpPr>
        <p:spPr>
          <a:xfrm>
            <a:off x="3714750" y="5203775"/>
            <a:ext cx="137521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6 — Administración del sistema: usuarios, roles y catálogos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" y="6171754"/>
            <a:ext cx="240982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Ampliación 2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3429000" y="5977086"/>
            <a:ext cx="13906500" cy="773311"/>
          </a:xfrm>
          <a:prstGeom prst="roundRect">
            <a:avLst>
              <a:gd name="adj" fmla="val 19707"/>
            </a:avLst>
          </a:prstGeom>
          <a:solidFill>
            <a:srgbClr val="FFF2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14750" y="6186636"/>
            <a:ext cx="137521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7 — Compras y Proveedores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" y="7154614"/>
            <a:ext cx="240982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Ampliación 3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3429000" y="6959947"/>
            <a:ext cx="13906500" cy="773311"/>
          </a:xfrm>
          <a:prstGeom prst="roundRect">
            <a:avLst>
              <a:gd name="adj" fmla="val 19707"/>
            </a:avLst>
          </a:prstGeom>
          <a:solidFill>
            <a:srgbClr val="FFF2EB"/>
          </a:solidFill>
          <a:ln/>
        </p:spPr>
      </p:sp>
      <p:sp>
        <p:nvSpPr>
          <p:cNvPr id="15" name="Text 13"/>
          <p:cNvSpPr/>
          <p:nvPr/>
        </p:nvSpPr>
        <p:spPr>
          <a:xfrm>
            <a:off x="3714750" y="7169497"/>
            <a:ext cx="137521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8 — Portal del Propietario, con autenticación separada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" y="8690967"/>
            <a:ext cx="16874490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827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ampliación fue instruida explícitamente por el cliente del proyecto y documentada citando la línea de "Fuera de alcance" que modifica — nunca una reinterpretación libre del SRS.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6764000" cy="763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Ocho módulos funcionales en producción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2614166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EBDDC5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899916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y Propietarios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100638" y="2614166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EBDDC5"/>
          </a:solidFill>
          <a:ln/>
        </p:spPr>
      </p:sp>
      <p:sp>
        <p:nvSpPr>
          <p:cNvPr id="7" name="Text 5"/>
          <p:cNvSpPr/>
          <p:nvPr/>
        </p:nvSpPr>
        <p:spPr>
          <a:xfrm>
            <a:off x="5329238" y="2899916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y Citas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48775" y="2614166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EBDDC5"/>
          </a:solidFill>
          <a:ln/>
        </p:spPr>
      </p:sp>
      <p:sp>
        <p:nvSpPr>
          <p:cNvPr id="9" name="Text 7"/>
          <p:cNvSpPr/>
          <p:nvPr/>
        </p:nvSpPr>
        <p:spPr>
          <a:xfrm>
            <a:off x="9477375" y="2899916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Clínico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396913" y="2614166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EBDDC5"/>
          </a:solidFill>
          <a:ln/>
        </p:spPr>
      </p:sp>
      <p:sp>
        <p:nvSpPr>
          <p:cNvPr id="11" name="Text 9"/>
          <p:cNvSpPr/>
          <p:nvPr/>
        </p:nvSpPr>
        <p:spPr>
          <a:xfrm>
            <a:off x="13625513" y="2899916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y Medicamentos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" y="3651200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EBDDC5"/>
          </a:solidFill>
          <a:ln/>
        </p:spPr>
      </p:sp>
      <p:sp>
        <p:nvSpPr>
          <p:cNvPr id="13" name="Text 11"/>
          <p:cNvSpPr/>
          <p:nvPr/>
        </p:nvSpPr>
        <p:spPr>
          <a:xfrm>
            <a:off x="1181100" y="3936950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Facturación y Reportes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100638" y="3651200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FFF2EB"/>
          </a:solidFill>
          <a:ln/>
        </p:spPr>
      </p:sp>
      <p:sp>
        <p:nvSpPr>
          <p:cNvPr id="15" name="Text 13"/>
          <p:cNvSpPr/>
          <p:nvPr/>
        </p:nvSpPr>
        <p:spPr>
          <a:xfrm>
            <a:off x="5329238" y="3936950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Administración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48775" y="3651200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FFF2EB"/>
          </a:solidFill>
          <a:ln/>
        </p:spPr>
      </p:sp>
      <p:sp>
        <p:nvSpPr>
          <p:cNvPr id="17" name="Text 15"/>
          <p:cNvSpPr/>
          <p:nvPr/>
        </p:nvSpPr>
        <p:spPr>
          <a:xfrm>
            <a:off x="9477375" y="3936950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Compras y Proveedores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396913" y="3651200"/>
            <a:ext cx="3938588" cy="827484"/>
          </a:xfrm>
          <a:prstGeom prst="roundRect">
            <a:avLst>
              <a:gd name="adj" fmla="val 18417"/>
            </a:avLst>
          </a:prstGeom>
          <a:solidFill>
            <a:srgbClr val="FFF2EB"/>
          </a:solidFill>
          <a:ln/>
        </p:spPr>
      </p:sp>
      <p:sp>
        <p:nvSpPr>
          <p:cNvPr id="19" name="Text 17"/>
          <p:cNvSpPr/>
          <p:nvPr/>
        </p:nvSpPr>
        <p:spPr>
          <a:xfrm>
            <a:off x="13625513" y="3936950"/>
            <a:ext cx="3829526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spc="-27" kern="0" dirty="0">
                <a:solidFill>
                  <a:srgbClr val="8C49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del Propietario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500" y="9024491"/>
            <a:ext cx="1485156" cy="500509"/>
          </a:xfrm>
          <a:prstGeom prst="roundRect">
            <a:avLst>
              <a:gd name="adj" fmla="val 50000"/>
            </a:avLst>
          </a:prstGeom>
          <a:solidFill>
            <a:srgbClr val="F9F4ED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9119741"/>
            <a:ext cx="1180356" cy="348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1575" spc="32" kern="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SRS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704356" y="9024491"/>
            <a:ext cx="2474119" cy="500509"/>
          </a:xfrm>
          <a:prstGeom prst="roundRect">
            <a:avLst>
              <a:gd name="adj" fmla="val 50000"/>
            </a:avLst>
          </a:prstGeom>
          <a:solidFill>
            <a:srgbClr val="FFF2EB"/>
          </a:solidFill>
          <a:ln/>
        </p:spPr>
      </p:sp>
      <p:sp>
        <p:nvSpPr>
          <p:cNvPr id="23" name="Text 21"/>
          <p:cNvSpPr/>
          <p:nvPr/>
        </p:nvSpPr>
        <p:spPr>
          <a:xfrm>
            <a:off x="2894856" y="9119741"/>
            <a:ext cx="2169319" cy="348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1575" spc="32" kern="0" dirty="0">
                <a:solidFill>
                  <a:srgbClr val="64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Ampliación de alcance</a:t>
            </a:r>
            <a:endParaRPr lang="en-US" sz="15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A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spc="39" kern="0" dirty="0">
                <a:solidFill>
                  <a:srgbClr val="566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del plan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69678"/>
            <a:ext cx="16764000" cy="763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641"/>
              </a:lnSpc>
              <a:buNone/>
            </a:pPr>
            <a:r>
              <a:rPr lang="en-US" sz="5100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plan cerrado, verificado fase por fase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52500" y="4433292"/>
            <a:ext cx="14287500" cy="925711"/>
          </a:xfrm>
          <a:prstGeom prst="roundRect">
            <a:avLst>
              <a:gd name="adj" fmla="val 28810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4719042"/>
            <a:ext cx="942009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se probó con las tres cuentas de rol reales antes de avanzar a la siguiente.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5606653"/>
            <a:ext cx="14287500" cy="925711"/>
          </a:xfrm>
          <a:prstGeom prst="roundRect">
            <a:avLst>
              <a:gd name="adj" fmla="val 28810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5400" y="5892403"/>
            <a:ext cx="920628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decisión de diseño y desviación queda documentada, no resuelta en silencio.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" y="6780014"/>
            <a:ext cx="14287500" cy="925711"/>
          </a:xfrm>
          <a:prstGeom prst="roundRect">
            <a:avLst>
              <a:gd name="adj" fmla="val 28810"/>
            </a:avLst>
          </a:prstGeom>
          <a:solidFill>
            <a:srgbClr val="F5EAD8"/>
          </a:solidFill>
          <a:ln/>
          <a:effectLst>
            <a:outerShdw sx="100000" sy="100000" kx="0" ky="0" algn="bl" rotWithShape="0" blurRad="19050" dist="9525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295400" y="7065764"/>
            <a:ext cx="10042193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474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siete fases del rediseño y ampliación del sistema quedaron completadas y verificadas.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8C4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49500" y="-1905000"/>
            <a:ext cx="4572000" cy="4572000"/>
          </a:xfrm>
          <a:prstGeom prst="ellipse">
            <a:avLst/>
          </a:prstGeom>
          <a:solidFill>
            <a:srgbClr val="643312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2981623"/>
            <a:ext cx="18021300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7500" spc="-112" kern="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52500" y="4238923"/>
            <a:ext cx="180213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3000" dirty="0">
                <a:solidFill>
                  <a:srgbClr val="FFF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VetCare — Sistema de Gestión Veterinaria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52500" y="5488484"/>
            <a:ext cx="180213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Arcalle Grefa Darwin Orlando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" y="5976045"/>
            <a:ext cx="180213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Coronel Gomez Khriz Alexander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2500" y="6463605"/>
            <a:ext cx="180213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Quintero Rico Luis David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6951166"/>
            <a:ext cx="180213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F5E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Sanchez Vera Darwin Joel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2026-08-26T17:01:17Z</dcterms:created>
  <dcterms:modified xsi:type="dcterms:W3CDTF">2026-08-26T17:01:17Z</dcterms:modified>
</cp:coreProperties>
</file>