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-2095500"/>
            <a:ext cx="5905500" cy="5905500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Shape 1"/>
          <p:cNvSpPr/>
          <p:nvPr/>
        </p:nvSpPr>
        <p:spPr>
          <a:xfrm>
            <a:off x="12573000" y="8382000"/>
            <a:ext cx="3238500" cy="3238500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678906"/>
            <a:ext cx="12573000" cy="612428"/>
          </a:xfrm>
          <a:prstGeom prst="roundRect">
            <a:avLst>
              <a:gd name="adj" fmla="val 50000"/>
            </a:avLst>
          </a:prstGeom>
          <a:solidFill>
            <a:srgbClr val="FFF2E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793206"/>
            <a:ext cx="1245489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Sustentación de proyecto de software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558034"/>
            <a:ext cx="1383030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51"/>
              </a:lnSpc>
              <a:buNone/>
            </a:pPr>
            <a:r>
              <a:rPr lang="en-US" sz="11700" spc="-175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VetCare</a:t>
            </a:r>
            <a:endParaRPr lang="en-US" sz="11700" dirty="0"/>
          </a:p>
        </p:txBody>
      </p:sp>
      <p:sp>
        <p:nvSpPr>
          <p:cNvPr id="7" name="Text 5"/>
          <p:cNvSpPr/>
          <p:nvPr/>
        </p:nvSpPr>
        <p:spPr>
          <a:xfrm>
            <a:off x="952500" y="5310634"/>
            <a:ext cx="10791825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Veterinaria — desarrollo, metodología y artefactos de ingeniería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52500" y="7253734"/>
            <a:ext cx="386226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Arcalle Grefa Darwin Orlando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20853" y="7253734"/>
            <a:ext cx="411258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Coronel Gomez Khriz Alexander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16764" y="7253734"/>
            <a:ext cx="319874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Quintero Rico Luis David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481917" y="7253734"/>
            <a:ext cx="333790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Sanchez Vera Darwin Joel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4716125" cy="148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operación de una clínica veterinaria pequeña sigue siendo manual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3339554"/>
            <a:ext cx="8510059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establecimientos veterinarios de pequeña y mediana escala gestionan sus actividades con hojas de cálculo y agendas físicas, herramientas genéricas que no fueron pensadas para el negocio clínico.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5301704"/>
            <a:ext cx="851005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se traduce en consecuencias operativas concretas y recurrentes.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824293" y="3339554"/>
            <a:ext cx="7511207" cy="925711"/>
          </a:xfrm>
          <a:prstGeom prst="roundRect">
            <a:avLst>
              <a:gd name="adj" fmla="val 28810"/>
            </a:avLst>
          </a:prstGeom>
          <a:solidFill>
            <a:srgbClr val="EBDDC5"/>
          </a:solidFill>
          <a:ln/>
        </p:spPr>
      </p:sp>
      <p:sp>
        <p:nvSpPr>
          <p:cNvPr id="7" name="Shape 5"/>
          <p:cNvSpPr/>
          <p:nvPr/>
        </p:nvSpPr>
        <p:spPr>
          <a:xfrm>
            <a:off x="10148143" y="3735735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8" name="Text 6"/>
          <p:cNvSpPr/>
          <p:nvPr/>
        </p:nvSpPr>
        <p:spPr>
          <a:xfrm>
            <a:off x="10491043" y="3625304"/>
            <a:ext cx="498843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Inconsistencias en los registros clínicos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24293" y="4455765"/>
            <a:ext cx="7511207" cy="925711"/>
          </a:xfrm>
          <a:prstGeom prst="roundRect">
            <a:avLst>
              <a:gd name="adj" fmla="val 28810"/>
            </a:avLst>
          </a:prstGeom>
          <a:solidFill>
            <a:srgbClr val="EBDDC5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8143" y="4851946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1" name="Text 9"/>
          <p:cNvSpPr/>
          <p:nvPr/>
        </p:nvSpPr>
        <p:spPr>
          <a:xfrm>
            <a:off x="10491043" y="4741515"/>
            <a:ext cx="648933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información de pacientes y propietarios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24293" y="5571976"/>
            <a:ext cx="7511207" cy="925711"/>
          </a:xfrm>
          <a:prstGeom prst="roundRect">
            <a:avLst>
              <a:gd name="adj" fmla="val 28810"/>
            </a:avLst>
          </a:prstGeom>
          <a:solidFill>
            <a:srgbClr val="EBDDC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48143" y="5968157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4" name="Text 12"/>
          <p:cNvSpPr/>
          <p:nvPr/>
        </p:nvSpPr>
        <p:spPr>
          <a:xfrm>
            <a:off x="10491043" y="5857726"/>
            <a:ext cx="417413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Demoras en la atención al cliente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824293" y="6688187"/>
            <a:ext cx="7511207" cy="925711"/>
          </a:xfrm>
          <a:prstGeom prst="roundRect">
            <a:avLst>
              <a:gd name="adj" fmla="val 28810"/>
            </a:avLst>
          </a:prstGeom>
          <a:solidFill>
            <a:srgbClr val="EBDDC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8143" y="7084368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7" name="Text 15"/>
          <p:cNvSpPr/>
          <p:nvPr/>
        </p:nvSpPr>
        <p:spPr>
          <a:xfrm>
            <a:off x="10491043" y="6973937"/>
            <a:ext cx="5169337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Dificultades en el proceso de facturación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566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4716125" cy="148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de escritorio que centraliza la información y automatiza los procesos clave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3339554"/>
            <a:ext cx="5206901" cy="2788890"/>
          </a:xfrm>
          <a:prstGeom prst="roundRect">
            <a:avLst>
              <a:gd name="adj" fmla="val 9563"/>
            </a:avLst>
          </a:prstGeom>
          <a:solidFill>
            <a:srgbClr val="F5EAD8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14450" y="3758654"/>
            <a:ext cx="4931301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14450" y="4337745"/>
            <a:ext cx="461749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repositorio único de pacientes, historiales, inventario y facturación, en lugar de hojas sueltas y agendas físicas.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40401" y="3339554"/>
            <a:ext cx="5207050" cy="2788890"/>
          </a:xfrm>
          <a:prstGeom prst="roundRect">
            <a:avLst>
              <a:gd name="adj" fmla="val 9563"/>
            </a:avLst>
          </a:prstGeom>
          <a:solidFill>
            <a:srgbClr val="F5EAD8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2351" y="3758654"/>
            <a:ext cx="49314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02351" y="4337745"/>
            <a:ext cx="461764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procesos clave del negocio veterinario — citas, descuentos de inventario, facturación — dejan de depender de tareas manuales.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128450" y="3339554"/>
            <a:ext cx="5207050" cy="2788890"/>
          </a:xfrm>
          <a:prstGeom prst="roundRect">
            <a:avLst>
              <a:gd name="adj" fmla="val 9563"/>
            </a:avLst>
          </a:prstGeom>
          <a:solidFill>
            <a:srgbClr val="F5EAD8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490400" y="3758654"/>
            <a:ext cx="49314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Mejorar el servicio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490400" y="4337745"/>
            <a:ext cx="46176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demoras y errores en la atención, más eficiencia para recepción, veterinarios y administración.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del sistema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6874490" cy="148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módulos funcionales, especificados en el SRS desde el inicio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3339554"/>
            <a:ext cx="3924300" cy="2978348"/>
          </a:xfrm>
          <a:prstGeom prst="roundRect">
            <a:avLst>
              <a:gd name="adj" fmla="val 8955"/>
            </a:avLst>
          </a:prstGeom>
          <a:solidFill>
            <a:srgbClr val="EBDDC5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958233"/>
            <a:ext cx="37719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00150" y="4682133"/>
            <a:ext cx="3771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y Propietarios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200150" y="5082183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y consulta de mascotas y dueños.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05400" y="3339554"/>
            <a:ext cx="3924300" cy="2978348"/>
          </a:xfrm>
          <a:prstGeom prst="roundRect">
            <a:avLst>
              <a:gd name="adj" fmla="val 8955"/>
            </a:avLst>
          </a:prstGeom>
          <a:solidFill>
            <a:srgbClr val="EBDDC5"/>
          </a:solidFill>
          <a:ln/>
        </p:spPr>
      </p:sp>
      <p:sp>
        <p:nvSpPr>
          <p:cNvPr id="9" name="Text 7"/>
          <p:cNvSpPr/>
          <p:nvPr/>
        </p:nvSpPr>
        <p:spPr>
          <a:xfrm>
            <a:off x="5353050" y="3958233"/>
            <a:ext cx="37719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53050" y="4682133"/>
            <a:ext cx="3771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y Citas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353050" y="5082183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con verificación de disponibilidad.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58300" y="3339554"/>
            <a:ext cx="3924300" cy="2978348"/>
          </a:xfrm>
          <a:prstGeom prst="roundRect">
            <a:avLst>
              <a:gd name="adj" fmla="val 8955"/>
            </a:avLst>
          </a:prstGeom>
          <a:solidFill>
            <a:srgbClr val="EBDDC5"/>
          </a:solidFill>
          <a:ln/>
        </p:spPr>
      </p:sp>
      <p:sp>
        <p:nvSpPr>
          <p:cNvPr id="13" name="Text 11"/>
          <p:cNvSpPr/>
          <p:nvPr/>
        </p:nvSpPr>
        <p:spPr>
          <a:xfrm>
            <a:off x="9505950" y="3958233"/>
            <a:ext cx="37719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505950" y="4682133"/>
            <a:ext cx="3771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Clínico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505950" y="5082183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Consultas, diagnósticos y vacunas.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411200" y="3339554"/>
            <a:ext cx="3924300" cy="2978348"/>
          </a:xfrm>
          <a:prstGeom prst="roundRect">
            <a:avLst>
              <a:gd name="adj" fmla="val 8955"/>
            </a:avLst>
          </a:prstGeom>
          <a:solidFill>
            <a:srgbClr val="EBDDC5"/>
          </a:solidFill>
          <a:ln/>
        </p:spPr>
      </p:sp>
      <p:sp>
        <p:nvSpPr>
          <p:cNvPr id="17" name="Text 15"/>
          <p:cNvSpPr/>
          <p:nvPr/>
        </p:nvSpPr>
        <p:spPr>
          <a:xfrm>
            <a:off x="13658850" y="3958233"/>
            <a:ext cx="37719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658850" y="4682133"/>
            <a:ext cx="3771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y Medicamentos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3658850" y="5082183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con alertas de nivel mínimo.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6546503"/>
            <a:ext cx="3924300" cy="2978497"/>
          </a:xfrm>
          <a:prstGeom prst="roundRect">
            <a:avLst>
              <a:gd name="adj" fmla="val 8954"/>
            </a:avLst>
          </a:prstGeom>
          <a:solidFill>
            <a:srgbClr val="EBDDC5"/>
          </a:solidFill>
          <a:ln/>
        </p:spPr>
      </p:sp>
      <p:sp>
        <p:nvSpPr>
          <p:cNvPr id="21" name="Text 19"/>
          <p:cNvSpPr/>
          <p:nvPr/>
        </p:nvSpPr>
        <p:spPr>
          <a:xfrm>
            <a:off x="1200150" y="7165181"/>
            <a:ext cx="37719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200150" y="7889081"/>
            <a:ext cx="3771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y Reportes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00150" y="8289131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Facturas, pagos y reportes de ingresos.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05400" y="6546503"/>
            <a:ext cx="3924300" cy="2978497"/>
          </a:xfrm>
          <a:prstGeom prst="roundRect">
            <a:avLst>
              <a:gd name="adj" fmla="val 8954"/>
            </a:avLst>
          </a:prstGeom>
          <a:solidFill>
            <a:srgbClr val="EBDDC5"/>
          </a:solidFill>
          <a:ln/>
        </p:spPr>
      </p:sp>
      <p:sp>
        <p:nvSpPr>
          <p:cNvPr id="25" name="Text 23"/>
          <p:cNvSpPr/>
          <p:nvPr/>
        </p:nvSpPr>
        <p:spPr>
          <a:xfrm>
            <a:off x="5353050" y="7319516"/>
            <a:ext cx="37719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353050" y="8043416"/>
            <a:ext cx="3771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5353050" y="8443466"/>
            <a:ext cx="377190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Usuarios, roles y catálogos.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58300" y="6546503"/>
            <a:ext cx="3924300" cy="2978497"/>
          </a:xfrm>
          <a:prstGeom prst="roundRect">
            <a:avLst>
              <a:gd name="adj" fmla="val 8954"/>
            </a:avLst>
          </a:prstGeom>
          <a:solidFill>
            <a:srgbClr val="EBDDC5"/>
          </a:solidFill>
          <a:ln/>
        </p:spPr>
      </p:sp>
      <p:sp>
        <p:nvSpPr>
          <p:cNvPr id="29" name="Text 27"/>
          <p:cNvSpPr/>
          <p:nvPr/>
        </p:nvSpPr>
        <p:spPr>
          <a:xfrm>
            <a:off x="9505950" y="7165181"/>
            <a:ext cx="37719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505950" y="7889081"/>
            <a:ext cx="3771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y Proveedores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9505950" y="8289131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de compra y proveedores.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411200" y="6546503"/>
            <a:ext cx="3924300" cy="2978497"/>
          </a:xfrm>
          <a:prstGeom prst="roundRect">
            <a:avLst>
              <a:gd name="adj" fmla="val 8954"/>
            </a:avLst>
          </a:prstGeom>
          <a:solidFill>
            <a:srgbClr val="EBDDC5"/>
          </a:solidFill>
          <a:ln/>
        </p:spPr>
      </p:sp>
      <p:sp>
        <p:nvSpPr>
          <p:cNvPr id="33" name="Text 31"/>
          <p:cNvSpPr/>
          <p:nvPr/>
        </p:nvSpPr>
        <p:spPr>
          <a:xfrm>
            <a:off x="13658850" y="7165181"/>
            <a:ext cx="37719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13658850" y="7889081"/>
            <a:ext cx="3771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del Propietario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13658850" y="8289131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externo, autenticación separada.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acceso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4716125" cy="148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roles de personal, con permisos diferenciados por diseño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3339554"/>
            <a:ext cx="5206901" cy="4897785"/>
          </a:xfrm>
          <a:prstGeom prst="roundRect">
            <a:avLst>
              <a:gd name="adj" fmla="val 5445"/>
            </a:avLst>
          </a:prstGeom>
          <a:solidFill>
            <a:srgbClr val="FFF2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4450" y="4755952"/>
            <a:ext cx="495300" cy="495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4450" y="5479852"/>
            <a:ext cx="4931301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Recepcionista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14450" y="6135142"/>
            <a:ext cx="461749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Pacientes, agenda y facturación: la puerta de entrada operativa de la clínica.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40401" y="3339554"/>
            <a:ext cx="5207050" cy="4897785"/>
          </a:xfrm>
          <a:prstGeom prst="roundRect">
            <a:avLst>
              <a:gd name="adj" fmla="val 5445"/>
            </a:avLst>
          </a:prstGeom>
          <a:solidFill>
            <a:srgbClr val="FFF2E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2351" y="4755952"/>
            <a:ext cx="49530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2351" y="5479852"/>
            <a:ext cx="49314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Veterinario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902351" y="6135142"/>
            <a:ext cx="461764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clínico, consultas, vacunas y exámenes de laboratorio.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2128450" y="3339554"/>
            <a:ext cx="5207050" cy="4897785"/>
          </a:xfrm>
          <a:prstGeom prst="roundRect">
            <a:avLst>
              <a:gd name="adj" fmla="val 5445"/>
            </a:avLst>
          </a:prstGeom>
          <a:solidFill>
            <a:srgbClr val="FFF2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90400" y="4584502"/>
            <a:ext cx="495300" cy="495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90400" y="5308402"/>
            <a:ext cx="49314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12490400" y="5963692"/>
            <a:ext cx="46176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Inventario, reportes, compras a proveedores y cuentas de usuario del sistema.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952500" y="8675489"/>
            <a:ext cx="16383000" cy="849511"/>
          </a:xfrm>
          <a:prstGeom prst="roundRect">
            <a:avLst>
              <a:gd name="adj" fmla="val 31395"/>
            </a:avLst>
          </a:prstGeom>
          <a:solidFill>
            <a:srgbClr val="EBDDC5"/>
          </a:solidFill>
          <a:ln/>
        </p:spPr>
      </p:sp>
      <p:sp>
        <p:nvSpPr>
          <p:cNvPr id="17" name="Shape 12"/>
          <p:cNvSpPr/>
          <p:nvPr/>
        </p:nvSpPr>
        <p:spPr>
          <a:xfrm>
            <a:off x="1276350" y="903357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8" name="Text 13"/>
          <p:cNvSpPr/>
          <p:nvPr/>
        </p:nvSpPr>
        <p:spPr>
          <a:xfrm>
            <a:off x="1619250" y="8923139"/>
            <a:ext cx="1393589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i="1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diseño original, el propietario de la mascota no es usuario del sistema — atendido siempre por el personal de la clínica.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C4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7810500"/>
            <a:ext cx="4953000" cy="4953000"/>
          </a:xfrm>
          <a:prstGeom prst="ellipse">
            <a:avLst/>
          </a:prstGeom>
          <a:solidFill>
            <a:srgbClr val="643312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84227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FFE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2939504"/>
            <a:ext cx="16764000" cy="1062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7200" spc="-108" kern="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en Cascada Clásico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4287441"/>
            <a:ext cx="1275397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3000" dirty="0">
                <a:solidFill>
                  <a:srgbClr val="FFF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flujo secuencial y lineal: cada fase del ciclo de vida se completa y se revisa en su totalidad antes de avanzar a la siguiente.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600200" y="6590407"/>
            <a:ext cx="609600" cy="609600"/>
          </a:xfrm>
          <a:prstGeom prst="ellipse">
            <a:avLst/>
          </a:prstGeom>
          <a:solidFill>
            <a:srgbClr val="F5EAD8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6590407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82" y="7371457"/>
            <a:ext cx="1706687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Investigación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62250" y="6953250"/>
            <a:ext cx="1905000" cy="28575"/>
          </a:xfrm>
          <a:prstGeom prst="rect">
            <a:avLst/>
          </a:prstGeom>
          <a:solidFill>
            <a:srgbClr val="D67F48"/>
          </a:solidFill>
          <a:ln/>
        </p:spPr>
      </p:sp>
      <p:sp>
        <p:nvSpPr>
          <p:cNvPr id="10" name="Shape 8"/>
          <p:cNvSpPr/>
          <p:nvPr/>
        </p:nvSpPr>
        <p:spPr>
          <a:xfrm>
            <a:off x="5219700" y="6413302"/>
            <a:ext cx="609600" cy="609600"/>
          </a:xfrm>
          <a:prstGeom prst="ellipse">
            <a:avLst/>
          </a:prstGeom>
          <a:solidFill>
            <a:srgbClr val="F5EAD8"/>
          </a:solidFill>
          <a:ln/>
        </p:spPr>
      </p:sp>
      <p:sp>
        <p:nvSpPr>
          <p:cNvPr id="11" name="Text 9"/>
          <p:cNvSpPr/>
          <p:nvPr/>
        </p:nvSpPr>
        <p:spPr>
          <a:xfrm>
            <a:off x="5181600" y="6413302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33900" y="7194352"/>
            <a:ext cx="198120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Diseño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81750" y="6953250"/>
            <a:ext cx="1905000" cy="28575"/>
          </a:xfrm>
          <a:prstGeom prst="rect">
            <a:avLst/>
          </a:prstGeom>
          <a:solidFill>
            <a:srgbClr val="D67F48"/>
          </a:solidFill>
          <a:ln/>
        </p:spPr>
      </p:sp>
      <p:sp>
        <p:nvSpPr>
          <p:cNvPr id="14" name="Shape 12"/>
          <p:cNvSpPr/>
          <p:nvPr/>
        </p:nvSpPr>
        <p:spPr>
          <a:xfrm>
            <a:off x="8839200" y="6590407"/>
            <a:ext cx="609600" cy="609600"/>
          </a:xfrm>
          <a:prstGeom prst="ellipse">
            <a:avLst/>
          </a:prstGeom>
          <a:solidFill>
            <a:srgbClr val="F5EAD8"/>
          </a:solidFill>
          <a:ln/>
        </p:spPr>
      </p:sp>
      <p:sp>
        <p:nvSpPr>
          <p:cNvPr id="15" name="Text 13"/>
          <p:cNvSpPr/>
          <p:nvPr/>
        </p:nvSpPr>
        <p:spPr>
          <a:xfrm>
            <a:off x="8801100" y="6590407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284525" y="7371457"/>
            <a:ext cx="171880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001250" y="6953250"/>
            <a:ext cx="1905000" cy="28575"/>
          </a:xfrm>
          <a:prstGeom prst="rect">
            <a:avLst/>
          </a:prstGeom>
          <a:solidFill>
            <a:srgbClr val="D67F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2458700" y="6590407"/>
            <a:ext cx="609600" cy="609600"/>
          </a:xfrm>
          <a:prstGeom prst="ellipse">
            <a:avLst/>
          </a:prstGeom>
          <a:solidFill>
            <a:srgbClr val="F5EAD8"/>
          </a:solidFill>
          <a:ln/>
        </p:spPr>
      </p:sp>
      <p:sp>
        <p:nvSpPr>
          <p:cNvPr id="19" name="Text 17"/>
          <p:cNvSpPr/>
          <p:nvPr/>
        </p:nvSpPr>
        <p:spPr>
          <a:xfrm>
            <a:off x="12420600" y="6590407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255847" y="7371457"/>
            <a:ext cx="101530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620750" y="6953250"/>
            <a:ext cx="1905000" cy="28575"/>
          </a:xfrm>
          <a:prstGeom prst="rect">
            <a:avLst/>
          </a:prstGeom>
          <a:solidFill>
            <a:srgbClr val="D67F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78200" y="6590407"/>
            <a:ext cx="609600" cy="609600"/>
          </a:xfrm>
          <a:prstGeom prst="ellipse">
            <a:avLst/>
          </a:prstGeom>
          <a:solidFill>
            <a:srgbClr val="F5EAD8"/>
          </a:solidFill>
          <a:ln/>
        </p:spPr>
      </p:sp>
      <p:sp>
        <p:nvSpPr>
          <p:cNvPr id="23" name="Text 21"/>
          <p:cNvSpPr/>
          <p:nvPr/>
        </p:nvSpPr>
        <p:spPr>
          <a:xfrm>
            <a:off x="16040100" y="6590407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5340325" y="7371457"/>
            <a:ext cx="20853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del enfoque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6764000" cy="763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cascada, y no un enfoque iterativo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2614166"/>
            <a:ext cx="5206901" cy="6910834"/>
          </a:xfrm>
          <a:prstGeom prst="roundRect">
            <a:avLst>
              <a:gd name="adj" fmla="val 5122"/>
            </a:avLst>
          </a:prstGeom>
          <a:solidFill>
            <a:srgbClr val="EBDDC5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614166"/>
            <a:ext cx="5206901" cy="38100"/>
          </a:xfrm>
          <a:prstGeom prst="rect">
            <a:avLst/>
          </a:prstGeom>
          <a:solidFill>
            <a:srgbClr val="C671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7300" y="4469457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300" y="5136207"/>
            <a:ext cx="5057031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estables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257300" y="5772448"/>
            <a:ext cx="473522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procesos de una clínica veterinaria son universales y están bien definidos desde el inicio: sin la incertidumbre que justificaría iterar.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57300" y="7353598"/>
            <a:ext cx="505703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procesos de negocio conocidos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40401" y="2614166"/>
            <a:ext cx="5207050" cy="6910834"/>
          </a:xfrm>
          <a:prstGeom prst="roundRect">
            <a:avLst>
              <a:gd name="adj" fmla="val 5122"/>
            </a:avLst>
          </a:prstGeom>
          <a:solidFill>
            <a:srgbClr val="EBDDC5"/>
          </a:solidFill>
          <a:ln/>
        </p:spPr>
      </p:sp>
      <p:sp>
        <p:nvSpPr>
          <p:cNvPr id="11" name="Shape 8"/>
          <p:cNvSpPr/>
          <p:nvPr/>
        </p:nvSpPr>
        <p:spPr>
          <a:xfrm>
            <a:off x="6540401" y="2614166"/>
            <a:ext cx="5207050" cy="38100"/>
          </a:xfrm>
          <a:prstGeom prst="rect">
            <a:avLst/>
          </a:prstGeom>
          <a:solidFill>
            <a:srgbClr val="C6713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5201" y="4640907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45201" y="5307657"/>
            <a:ext cx="505719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fijo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845201" y="5943898"/>
            <a:ext cx="473537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módulos exactos, definidos desde el día uno — la arquitectura completa puede planificarse sin improvisar.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845201" y="7182148"/>
            <a:ext cx="505719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Cierre: SRS congelado antes del diseño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2128450" y="2614166"/>
            <a:ext cx="5207050" cy="6910834"/>
          </a:xfrm>
          <a:prstGeom prst="roundRect">
            <a:avLst>
              <a:gd name="adj" fmla="val 5122"/>
            </a:avLst>
          </a:prstGeom>
          <a:solidFill>
            <a:srgbClr val="EBDDC5"/>
          </a:solidFill>
          <a:ln/>
        </p:spPr>
      </p:sp>
      <p:sp>
        <p:nvSpPr>
          <p:cNvPr id="17" name="Shape 13"/>
          <p:cNvSpPr/>
          <p:nvPr/>
        </p:nvSpPr>
        <p:spPr>
          <a:xfrm>
            <a:off x="12128450" y="2614166"/>
            <a:ext cx="5207050" cy="38100"/>
          </a:xfrm>
          <a:prstGeom prst="rect">
            <a:avLst/>
          </a:prstGeom>
          <a:solidFill>
            <a:srgbClr val="C6713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33250" y="442748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433250" y="5094238"/>
            <a:ext cx="473537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Rigurosidad documental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12433250" y="6157168"/>
            <a:ext cx="473537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artefactos formales exigen que cada fase produzca entregables que sirven de base obligatoria para la siguiente.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2433250" y="7395418"/>
            <a:ext cx="505719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Trazabilidad: fase a fase, sin vacíos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5697200" cy="148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fases secuenciales, trece semanas de plazo fijo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524000" y="4177754"/>
            <a:ext cx="15240000" cy="38100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3530054"/>
            <a:ext cx="3093690" cy="5994946"/>
          </a:xfrm>
          <a:prstGeom prst="roundRect">
            <a:avLst>
              <a:gd name="adj" fmla="val 8621"/>
            </a:avLst>
          </a:prstGeom>
          <a:solidFill>
            <a:srgbClr val="EBDDC5"/>
          </a:solidFill>
          <a:ln/>
        </p:spPr>
      </p:sp>
      <p:sp>
        <p:nvSpPr>
          <p:cNvPr id="6" name="Shape 4"/>
          <p:cNvSpPr/>
          <p:nvPr/>
        </p:nvSpPr>
        <p:spPr>
          <a:xfrm>
            <a:off x="1200150" y="3853904"/>
            <a:ext cx="647700" cy="64770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162050" y="3853904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00150" y="4711154"/>
            <a:ext cx="2858229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35"/>
              </a:lnSpc>
              <a:buNone/>
            </a:pPr>
            <a:r>
              <a:rPr lang="en-US" sz="1950" spc="-29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Investigación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00150" y="5197971"/>
            <a:ext cx="267634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Levantamiento del SRS: casos de uso y DFD.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0150" y="8492728"/>
            <a:ext cx="267634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SRS + DFD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74790" y="3530054"/>
            <a:ext cx="3093690" cy="5994946"/>
          </a:xfrm>
          <a:prstGeom prst="roundRect">
            <a:avLst>
              <a:gd name="adj" fmla="val 8621"/>
            </a:avLst>
          </a:prstGeom>
          <a:solidFill>
            <a:srgbClr val="EBDDC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2440" y="3853904"/>
            <a:ext cx="647700" cy="64770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4484340" y="3853904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522440" y="4711154"/>
            <a:ext cx="2858229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35"/>
              </a:lnSpc>
              <a:buNone/>
            </a:pPr>
            <a:r>
              <a:rPr lang="en-US" sz="1950" spc="-29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Diseño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22440" y="5197971"/>
            <a:ext cx="267634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Arquitectura, interfaces y modelos de BD.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2440" y="8492728"/>
            <a:ext cx="267634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Modelos de BD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597080" y="3530054"/>
            <a:ext cx="3093690" cy="5994946"/>
          </a:xfrm>
          <a:prstGeom prst="roundRect">
            <a:avLst>
              <a:gd name="adj" fmla="val 8621"/>
            </a:avLst>
          </a:prstGeom>
          <a:solidFill>
            <a:srgbClr val="EBDDC5"/>
          </a:solidFill>
          <a:ln/>
        </p:spPr>
      </p:sp>
      <p:sp>
        <p:nvSpPr>
          <p:cNvPr id="18" name="Shape 16"/>
          <p:cNvSpPr/>
          <p:nvPr/>
        </p:nvSpPr>
        <p:spPr>
          <a:xfrm>
            <a:off x="7844730" y="3853904"/>
            <a:ext cx="647700" cy="64770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9" name="Text 17"/>
          <p:cNvSpPr/>
          <p:nvPr/>
        </p:nvSpPr>
        <p:spPr>
          <a:xfrm>
            <a:off x="7806630" y="3853904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844730" y="4711154"/>
            <a:ext cx="2858229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35"/>
              </a:lnSpc>
              <a:buNone/>
            </a:pPr>
            <a:r>
              <a:rPr lang="en-US" sz="1950" spc="-29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844730" y="5197971"/>
            <a:ext cx="267634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Codificación de los ocho módulos aprobados.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844730" y="8492728"/>
            <a:ext cx="267634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Código fuente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19371" y="3530054"/>
            <a:ext cx="3093690" cy="5994946"/>
          </a:xfrm>
          <a:prstGeom prst="roundRect">
            <a:avLst>
              <a:gd name="adj" fmla="val 8621"/>
            </a:avLst>
          </a:prstGeom>
          <a:solidFill>
            <a:srgbClr val="EBDDC5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67021" y="3853904"/>
            <a:ext cx="647700" cy="64770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25" name="Text 23"/>
          <p:cNvSpPr/>
          <p:nvPr/>
        </p:nvSpPr>
        <p:spPr>
          <a:xfrm>
            <a:off x="11128921" y="3853904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167021" y="4711154"/>
            <a:ext cx="2858229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35"/>
              </a:lnSpc>
              <a:buNone/>
            </a:pPr>
            <a:r>
              <a:rPr lang="en-US" sz="1950" spc="-29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167021" y="5197971"/>
            <a:ext cx="267634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unitarias, integrales y de regresión.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167021" y="8492728"/>
            <a:ext cx="267634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Informe de pruebas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241661" y="3530054"/>
            <a:ext cx="3093690" cy="5994946"/>
          </a:xfrm>
          <a:prstGeom prst="roundRect">
            <a:avLst>
              <a:gd name="adj" fmla="val 8621"/>
            </a:avLst>
          </a:prstGeom>
          <a:solidFill>
            <a:srgbClr val="EBDDC5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89311" y="3853904"/>
            <a:ext cx="647700" cy="64770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31" name="Text 29"/>
          <p:cNvSpPr/>
          <p:nvPr/>
        </p:nvSpPr>
        <p:spPr>
          <a:xfrm>
            <a:off x="14451211" y="3853904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4489311" y="4711154"/>
            <a:ext cx="2858229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935"/>
              </a:lnSpc>
              <a:buNone/>
            </a:pPr>
            <a:r>
              <a:rPr lang="en-US" sz="1950" spc="-29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4489311" y="5197971"/>
            <a:ext cx="267634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final y capacitación.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489311" y="8492728"/>
            <a:ext cx="267634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Manual de usuario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566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del enfoque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4716125" cy="148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planificación lineal, más fácil de medir y de gestionar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3339554"/>
            <a:ext cx="5206901" cy="6185446"/>
          </a:xfrm>
          <a:prstGeom prst="roundRect">
            <a:avLst>
              <a:gd name="adj" fmla="val 5122"/>
            </a:avLst>
          </a:prstGeom>
          <a:solidFill>
            <a:srgbClr val="F5EAD8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4450" y="5256907"/>
            <a:ext cx="476250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4450" y="5942707"/>
            <a:ext cx="4931301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566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robusto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14450" y="6578947"/>
            <a:ext cx="461749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codificación no inicia hasta tener BD y arquitectura 100% aprobadas: se minimiza el riesgo de refactorizar.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40401" y="3339554"/>
            <a:ext cx="5207050" cy="6185446"/>
          </a:xfrm>
          <a:prstGeom prst="roundRect">
            <a:avLst>
              <a:gd name="adj" fmla="val 5122"/>
            </a:avLst>
          </a:prstGeom>
          <a:solidFill>
            <a:srgbClr val="F5EAD8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2351" y="5256907"/>
            <a:ext cx="476250" cy="476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2351" y="5942707"/>
            <a:ext cx="49314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566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 en la medición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902351" y="6578947"/>
            <a:ext cx="46176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Hitos secuenciales dentro del plazo de 13 semanas hacen sencillo medir el avance real frente al cronograma.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2128450" y="3339554"/>
            <a:ext cx="5207050" cy="6185446"/>
          </a:xfrm>
          <a:prstGeom prst="roundRect">
            <a:avLst>
              <a:gd name="adj" fmla="val 5122"/>
            </a:avLst>
          </a:prstGeom>
          <a:solidFill>
            <a:srgbClr val="F5EAD8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90400" y="5256907"/>
            <a:ext cx="476250" cy="4762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90400" y="5942707"/>
            <a:ext cx="49314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56"/>
              </a:lnSpc>
              <a:buNone/>
            </a:pPr>
            <a:r>
              <a:rPr lang="en-US" sz="3000" spc="-45" kern="0" dirty="0">
                <a:solidFill>
                  <a:srgbClr val="566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Facilidad de gestión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12490400" y="6578947"/>
            <a:ext cx="46176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estructura lineal e intuitiva facilita distribuir responsabilidades y sustentar el proyecto.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de ingeniería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5697200" cy="148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artefactos formales, en nueve categorías documentales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4796284"/>
            <a:ext cx="5308550" cy="938213"/>
          </a:xfrm>
          <a:prstGeom prst="roundRect">
            <a:avLst>
              <a:gd name="adj" fmla="val 16244"/>
            </a:avLst>
          </a:prstGeom>
          <a:solidFill>
            <a:srgbClr val="EBDDC5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5043934"/>
            <a:ext cx="41031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43819" y="5088285"/>
            <a:ext cx="466461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de Requisitos de Software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89650" y="4796284"/>
            <a:ext cx="5308550" cy="938213"/>
          </a:xfrm>
          <a:prstGeom prst="roundRect">
            <a:avLst>
              <a:gd name="adj" fmla="val 16244"/>
            </a:avLst>
          </a:prstGeom>
          <a:solidFill>
            <a:srgbClr val="EBDDC5"/>
          </a:solidFill>
          <a:ln/>
        </p:spPr>
      </p:sp>
      <p:sp>
        <p:nvSpPr>
          <p:cNvPr id="8" name="Text 6"/>
          <p:cNvSpPr/>
          <p:nvPr/>
        </p:nvSpPr>
        <p:spPr>
          <a:xfrm>
            <a:off x="6756350" y="5043934"/>
            <a:ext cx="4192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89899" y="5088285"/>
            <a:ext cx="453986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Casos de Uso (5 módulos)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26801" y="4796284"/>
            <a:ext cx="5308550" cy="938213"/>
          </a:xfrm>
          <a:prstGeom prst="roundRect">
            <a:avLst>
              <a:gd name="adj" fmla="val 16244"/>
            </a:avLst>
          </a:prstGeom>
          <a:solidFill>
            <a:srgbClr val="EBDDC5"/>
          </a:solidFill>
          <a:ln/>
        </p:spPr>
      </p:sp>
      <p:sp>
        <p:nvSpPr>
          <p:cNvPr id="11" name="Text 9"/>
          <p:cNvSpPr/>
          <p:nvPr/>
        </p:nvSpPr>
        <p:spPr>
          <a:xfrm>
            <a:off x="12293501" y="5043934"/>
            <a:ext cx="4192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827050" y="5088285"/>
            <a:ext cx="459831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Flujo de Datos (Nivel 0 y 1)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5963096"/>
            <a:ext cx="5308550" cy="938213"/>
          </a:xfrm>
          <a:prstGeom prst="roundRect">
            <a:avLst>
              <a:gd name="adj" fmla="val 16244"/>
            </a:avLst>
          </a:prstGeom>
          <a:solidFill>
            <a:srgbClr val="EBDDC5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6210746"/>
            <a:ext cx="41671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750219" y="6255097"/>
            <a:ext cx="389009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Arquitectónico del Sistema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89650" y="5963096"/>
            <a:ext cx="5308550" cy="938213"/>
          </a:xfrm>
          <a:prstGeom prst="roundRect">
            <a:avLst>
              <a:gd name="adj" fmla="val 16244"/>
            </a:avLst>
          </a:prstGeom>
          <a:solidFill>
            <a:srgbClr val="EBDDC5"/>
          </a:solidFill>
          <a:ln/>
        </p:spPr>
      </p:sp>
      <p:sp>
        <p:nvSpPr>
          <p:cNvPr id="17" name="Text 15"/>
          <p:cNvSpPr/>
          <p:nvPr/>
        </p:nvSpPr>
        <p:spPr>
          <a:xfrm>
            <a:off x="6756350" y="6210746"/>
            <a:ext cx="4192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89899" y="6255097"/>
            <a:ext cx="447340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Conceptual de la Base de Datos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26801" y="5963096"/>
            <a:ext cx="5308550" cy="938213"/>
          </a:xfrm>
          <a:prstGeom prst="roundRect">
            <a:avLst>
              <a:gd name="adj" fmla="val 16244"/>
            </a:avLst>
          </a:prstGeom>
          <a:solidFill>
            <a:srgbClr val="EBDDC5"/>
          </a:solidFill>
          <a:ln/>
        </p:spPr>
      </p:sp>
      <p:sp>
        <p:nvSpPr>
          <p:cNvPr id="20" name="Text 18"/>
          <p:cNvSpPr/>
          <p:nvPr/>
        </p:nvSpPr>
        <p:spPr>
          <a:xfrm>
            <a:off x="12293501" y="6210746"/>
            <a:ext cx="4192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827050" y="6255097"/>
            <a:ext cx="392955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Lógico de la Base de Datos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7129909"/>
            <a:ext cx="5308550" cy="938213"/>
          </a:xfrm>
          <a:prstGeom prst="roundRect">
            <a:avLst>
              <a:gd name="adj" fmla="val 16244"/>
            </a:avLst>
          </a:prstGeom>
          <a:solidFill>
            <a:srgbClr val="EBDDC5"/>
          </a:solidFill>
          <a:ln/>
        </p:spPr>
      </p:sp>
      <p:sp>
        <p:nvSpPr>
          <p:cNvPr id="23" name="Text 21"/>
          <p:cNvSpPr/>
          <p:nvPr/>
        </p:nvSpPr>
        <p:spPr>
          <a:xfrm>
            <a:off x="1219200" y="7377559"/>
            <a:ext cx="4159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749475" y="7421910"/>
            <a:ext cx="381741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Físico de la Base de Datos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89650" y="7129909"/>
            <a:ext cx="5308550" cy="938213"/>
          </a:xfrm>
          <a:prstGeom prst="roundRect">
            <a:avLst>
              <a:gd name="adj" fmla="val 16244"/>
            </a:avLst>
          </a:prstGeom>
          <a:solidFill>
            <a:srgbClr val="EBDDC5"/>
          </a:solidFill>
          <a:ln/>
        </p:spPr>
      </p:sp>
      <p:sp>
        <p:nvSpPr>
          <p:cNvPr id="26" name="Text 24"/>
          <p:cNvSpPr/>
          <p:nvPr/>
        </p:nvSpPr>
        <p:spPr>
          <a:xfrm>
            <a:off x="6756350" y="7377559"/>
            <a:ext cx="4192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7289899" y="7421910"/>
            <a:ext cx="367760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Clases por módulo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026801" y="7129909"/>
            <a:ext cx="5308550" cy="938213"/>
          </a:xfrm>
          <a:prstGeom prst="roundRect">
            <a:avLst>
              <a:gd name="adj" fmla="val 16244"/>
            </a:avLst>
          </a:prstGeom>
          <a:solidFill>
            <a:srgbClr val="EBDDC5"/>
          </a:solidFill>
          <a:ln/>
        </p:spPr>
      </p:sp>
      <p:sp>
        <p:nvSpPr>
          <p:cNvPr id="29" name="Text 27"/>
          <p:cNvSpPr/>
          <p:nvPr/>
        </p:nvSpPr>
        <p:spPr>
          <a:xfrm>
            <a:off x="12293501" y="7377559"/>
            <a:ext cx="4192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827050" y="7421910"/>
            <a:ext cx="272382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Despliegue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técnico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5697200" cy="148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capas, con Supabase como backend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3344317"/>
            <a:ext cx="14287500" cy="1162050"/>
          </a:xfrm>
          <a:prstGeom prst="roundRect">
            <a:avLst>
              <a:gd name="adj" fmla="val 22951"/>
            </a:avLst>
          </a:prstGeom>
          <a:solidFill>
            <a:srgbClr val="FFF2E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630067"/>
            <a:ext cx="276900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744349" y="3748236"/>
            <a:ext cx="452611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— React + TypeScript + Material UI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8125" y="4696867"/>
            <a:ext cx="1571625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A19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" y="5359747"/>
            <a:ext cx="14287500" cy="1162050"/>
          </a:xfrm>
          <a:prstGeom prst="roundRect">
            <a:avLst>
              <a:gd name="adj" fmla="val 22951"/>
            </a:avLst>
          </a:prstGeom>
          <a:solidFill>
            <a:srgbClr val="F0FAE1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5645497"/>
            <a:ext cx="195667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566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929068" y="5763667"/>
            <a:ext cx="54229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— Auth · PostgREST · Edge Functions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8125" y="6712297"/>
            <a:ext cx="1571625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A19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" y="7375178"/>
            <a:ext cx="14287500" cy="1162050"/>
          </a:xfrm>
          <a:prstGeom prst="roundRect">
            <a:avLst>
              <a:gd name="adj" fmla="val 22951"/>
            </a:avLst>
          </a:prstGeom>
          <a:solidFill>
            <a:srgbClr val="474238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660928"/>
            <a:ext cx="11831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288786" y="7779097"/>
            <a:ext cx="50272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DCD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Row Level Security y triggers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8923139"/>
            <a:ext cx="1055638" cy="601861"/>
          </a:xfrm>
          <a:prstGeom prst="roundRect">
            <a:avLst>
              <a:gd name="adj" fmla="val 50000"/>
            </a:avLst>
          </a:prstGeom>
          <a:ln w="9525">
            <a:solidFill>
              <a:srgbClr val="C671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1575" y="9046964"/>
            <a:ext cx="69368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36" kern="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60538" y="8923139"/>
            <a:ext cx="1603474" cy="601861"/>
          </a:xfrm>
          <a:prstGeom prst="roundRect">
            <a:avLst>
              <a:gd name="adj" fmla="val 50000"/>
            </a:avLst>
          </a:prstGeom>
          <a:ln w="9525">
            <a:solidFill>
              <a:srgbClr val="C671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9613" y="9046964"/>
            <a:ext cx="124152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36" kern="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16412" y="8923139"/>
            <a:ext cx="878681" cy="601861"/>
          </a:xfrm>
          <a:prstGeom prst="roundRect">
            <a:avLst>
              <a:gd name="adj" fmla="val 50000"/>
            </a:avLst>
          </a:prstGeom>
          <a:ln w="9525">
            <a:solidFill>
              <a:srgbClr val="C671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35487" y="9046964"/>
            <a:ext cx="51673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36" kern="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47493" y="8923139"/>
            <a:ext cx="1586359" cy="601861"/>
          </a:xfrm>
          <a:prstGeom prst="roundRect">
            <a:avLst>
              <a:gd name="adj" fmla="val 50000"/>
            </a:avLst>
          </a:prstGeom>
          <a:ln w="9525">
            <a:solidFill>
              <a:srgbClr val="C671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568" y="9046964"/>
            <a:ext cx="122440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36" kern="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UI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686252" y="8923139"/>
            <a:ext cx="1476226" cy="601861"/>
          </a:xfrm>
          <a:prstGeom prst="roundRect">
            <a:avLst>
              <a:gd name="adj" fmla="val 50000"/>
            </a:avLst>
          </a:prstGeom>
          <a:ln w="9525">
            <a:solidFill>
              <a:srgbClr val="C671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5327" y="9046964"/>
            <a:ext cx="111427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36" kern="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14879" y="8923139"/>
            <a:ext cx="1712714" cy="601861"/>
          </a:xfrm>
          <a:prstGeom prst="roundRect">
            <a:avLst>
              <a:gd name="adj" fmla="val 50000"/>
            </a:avLst>
          </a:prstGeom>
          <a:ln w="9525">
            <a:solidFill>
              <a:srgbClr val="C671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3954" y="9046964"/>
            <a:ext cx="135076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36" kern="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179993" y="8923139"/>
            <a:ext cx="765125" cy="601861"/>
          </a:xfrm>
          <a:prstGeom prst="ellipse">
            <a:avLst/>
          </a:prstGeom>
          <a:ln w="9525">
            <a:solidFill>
              <a:srgbClr val="C671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99068" y="9046964"/>
            <a:ext cx="4031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36" kern="0" dirty="0">
                <a:solidFill>
                  <a:srgbClr val="C67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C4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FFE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5697200" cy="148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garantizada dentro de la base de datos, no solo en pantalla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5603528"/>
            <a:ext cx="476994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dirty="0">
                <a:solidFill>
                  <a:srgbClr val="FFE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24744" y="5603528"/>
            <a:ext cx="755351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FFF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normalizadas; ninguna admite borrado físico — bajas y cancelaciones son cambios de estado.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29750" y="5603528"/>
            <a:ext cx="372070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dirty="0">
                <a:solidFill>
                  <a:srgbClr val="FFE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897070" y="5603528"/>
            <a:ext cx="766158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FFF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trigger descuenta inventario automáticamente al aplicar una vacuna, en la misma transacción.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6575078"/>
            <a:ext cx="372070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dirty="0">
                <a:solidFill>
                  <a:srgbClr val="FFE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19820" y="6575078"/>
            <a:ext cx="766158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FFF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restricción de exclusión impide que un veterinario tenga dos citas superpuestas.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29750" y="6575078"/>
            <a:ext cx="372070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dirty="0">
                <a:solidFill>
                  <a:srgbClr val="FFE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897070" y="6575078"/>
            <a:ext cx="766158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FFF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 aplica el permiso por rol directamente en PostgreSQL, no solo ocultando botones.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especificación al sistema construido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6187738" cy="1488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módulos, un solo alcance: el que definió el SRS desde el inicio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4874568"/>
            <a:ext cx="29337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clínica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3905250" y="4679900"/>
            <a:ext cx="13430250" cy="773311"/>
          </a:xfrm>
          <a:prstGeom prst="roundRect">
            <a:avLst>
              <a:gd name="adj" fmla="val 19707"/>
            </a:avLst>
          </a:prstGeom>
          <a:solidFill>
            <a:srgbClr val="EBDDC5"/>
          </a:solidFill>
          <a:ln/>
        </p:spPr>
      </p:sp>
      <p:sp>
        <p:nvSpPr>
          <p:cNvPr id="6" name="Text 4"/>
          <p:cNvSpPr/>
          <p:nvPr/>
        </p:nvSpPr>
        <p:spPr>
          <a:xfrm>
            <a:off x="4191000" y="4889450"/>
            <a:ext cx="1326165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1–5 — Pacientes, Agenda, Historial, Inventario, Facturación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5857429"/>
            <a:ext cx="29337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interna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905250" y="5662761"/>
            <a:ext cx="13430250" cy="773311"/>
          </a:xfrm>
          <a:prstGeom prst="roundRect">
            <a:avLst>
              <a:gd name="adj" fmla="val 19707"/>
            </a:avLst>
          </a:prstGeom>
          <a:solidFill>
            <a:srgbClr val="EBDDC5"/>
          </a:solidFill>
          <a:ln/>
        </p:spPr>
      </p:sp>
      <p:sp>
        <p:nvSpPr>
          <p:cNvPr id="9" name="Text 7"/>
          <p:cNvSpPr/>
          <p:nvPr/>
        </p:nvSpPr>
        <p:spPr>
          <a:xfrm>
            <a:off x="4191000" y="5872311"/>
            <a:ext cx="1326165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6–7 — Administración del sistema, Compras y Proveedores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6840289"/>
            <a:ext cx="29337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externo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3905250" y="6645622"/>
            <a:ext cx="13430250" cy="773311"/>
          </a:xfrm>
          <a:prstGeom prst="roundRect">
            <a:avLst>
              <a:gd name="adj" fmla="val 19707"/>
            </a:avLst>
          </a:prstGeom>
          <a:solidFill>
            <a:srgbClr val="EBDDC5"/>
          </a:solidFill>
          <a:ln/>
        </p:spPr>
      </p:sp>
      <p:sp>
        <p:nvSpPr>
          <p:cNvPr id="12" name="Text 10"/>
          <p:cNvSpPr/>
          <p:nvPr/>
        </p:nvSpPr>
        <p:spPr>
          <a:xfrm>
            <a:off x="4191000" y="6855172"/>
            <a:ext cx="1326165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8 — Portal del Propietario, con autenticación separada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" y="9045178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827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ocho módulos quedaron especificados en el SRS durante la fase de Investigación, antes de iniciar el diseño de arquitectura y base de datos.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8C4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6764000" cy="763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módulos funcionales en producción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2614166"/>
            <a:ext cx="3910013" cy="3331518"/>
          </a:xfrm>
          <a:prstGeom prst="roundRect">
            <a:avLst>
              <a:gd name="adj" fmla="val 8005"/>
            </a:avLst>
          </a:prstGeom>
          <a:solidFill>
            <a:srgbClr val="EBDDC5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902720"/>
            <a:ext cx="3714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y Propietarios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219200" y="4302770"/>
            <a:ext cx="371427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Núcleo clínico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10163" y="2614166"/>
            <a:ext cx="3910013" cy="3331518"/>
          </a:xfrm>
          <a:prstGeom prst="roundRect">
            <a:avLst>
              <a:gd name="adj" fmla="val 8005"/>
            </a:avLst>
          </a:prstGeom>
          <a:solidFill>
            <a:srgbClr val="EBDDC5"/>
          </a:solidFill>
          <a:ln/>
        </p:spPr>
      </p:sp>
      <p:sp>
        <p:nvSpPr>
          <p:cNvPr id="8" name="Text 6"/>
          <p:cNvSpPr/>
          <p:nvPr/>
        </p:nvSpPr>
        <p:spPr>
          <a:xfrm>
            <a:off x="5376863" y="3902720"/>
            <a:ext cx="3714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y Citas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5376863" y="4302770"/>
            <a:ext cx="371427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Núcleo clínico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67825" y="2614166"/>
            <a:ext cx="3910013" cy="3331518"/>
          </a:xfrm>
          <a:prstGeom prst="roundRect">
            <a:avLst>
              <a:gd name="adj" fmla="val 8005"/>
            </a:avLst>
          </a:prstGeom>
          <a:solidFill>
            <a:srgbClr val="EBDDC5"/>
          </a:solidFill>
          <a:ln/>
        </p:spPr>
      </p:sp>
      <p:sp>
        <p:nvSpPr>
          <p:cNvPr id="11" name="Text 9"/>
          <p:cNvSpPr/>
          <p:nvPr/>
        </p:nvSpPr>
        <p:spPr>
          <a:xfrm>
            <a:off x="9534525" y="3902720"/>
            <a:ext cx="3714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Clínico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534525" y="4302770"/>
            <a:ext cx="371427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Núcleo clínico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425488" y="2614166"/>
            <a:ext cx="3910013" cy="3331518"/>
          </a:xfrm>
          <a:prstGeom prst="roundRect">
            <a:avLst>
              <a:gd name="adj" fmla="val 8005"/>
            </a:avLst>
          </a:prstGeom>
          <a:solidFill>
            <a:srgbClr val="EBDDC5"/>
          </a:solidFill>
          <a:ln/>
        </p:spPr>
      </p:sp>
      <p:sp>
        <p:nvSpPr>
          <p:cNvPr id="14" name="Text 12"/>
          <p:cNvSpPr/>
          <p:nvPr/>
        </p:nvSpPr>
        <p:spPr>
          <a:xfrm>
            <a:off x="13692188" y="3902720"/>
            <a:ext cx="3714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y Medicamentos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3692188" y="4302770"/>
            <a:ext cx="371427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Núcleo clínico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6193334"/>
            <a:ext cx="3910013" cy="3331666"/>
          </a:xfrm>
          <a:prstGeom prst="roundRect">
            <a:avLst>
              <a:gd name="adj" fmla="val 8005"/>
            </a:avLst>
          </a:prstGeom>
          <a:solidFill>
            <a:srgbClr val="EBDDC5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7482036"/>
            <a:ext cx="3714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y Reportes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219200" y="7882086"/>
            <a:ext cx="371427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Núcleo clínico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10163" y="6193334"/>
            <a:ext cx="3910013" cy="3331666"/>
          </a:xfrm>
          <a:prstGeom prst="roundRect">
            <a:avLst>
              <a:gd name="adj" fmla="val 8005"/>
            </a:avLst>
          </a:prstGeom>
          <a:solidFill>
            <a:srgbClr val="EBDDC5"/>
          </a:solidFill>
          <a:ln/>
        </p:spPr>
      </p:sp>
      <p:sp>
        <p:nvSpPr>
          <p:cNvPr id="20" name="Text 18"/>
          <p:cNvSpPr/>
          <p:nvPr/>
        </p:nvSpPr>
        <p:spPr>
          <a:xfrm>
            <a:off x="5376863" y="7482036"/>
            <a:ext cx="3714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5376863" y="7882086"/>
            <a:ext cx="371427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interna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67825" y="6193334"/>
            <a:ext cx="3910013" cy="3331666"/>
          </a:xfrm>
          <a:prstGeom prst="roundRect">
            <a:avLst>
              <a:gd name="adj" fmla="val 8005"/>
            </a:avLst>
          </a:prstGeom>
          <a:solidFill>
            <a:srgbClr val="EBDDC5"/>
          </a:solidFill>
          <a:ln/>
        </p:spPr>
      </p:sp>
      <p:sp>
        <p:nvSpPr>
          <p:cNvPr id="23" name="Text 21"/>
          <p:cNvSpPr/>
          <p:nvPr/>
        </p:nvSpPr>
        <p:spPr>
          <a:xfrm>
            <a:off x="9534525" y="7482036"/>
            <a:ext cx="3714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y Proveedores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534525" y="7882086"/>
            <a:ext cx="371427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interna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425488" y="6193334"/>
            <a:ext cx="3910013" cy="3331666"/>
          </a:xfrm>
          <a:prstGeom prst="roundRect">
            <a:avLst>
              <a:gd name="adj" fmla="val 8005"/>
            </a:avLst>
          </a:prstGeom>
          <a:solidFill>
            <a:srgbClr val="EBDDC5"/>
          </a:solidFill>
          <a:ln/>
        </p:spPr>
      </p:sp>
      <p:sp>
        <p:nvSpPr>
          <p:cNvPr id="26" name="Text 24"/>
          <p:cNvSpPr/>
          <p:nvPr/>
        </p:nvSpPr>
        <p:spPr>
          <a:xfrm>
            <a:off x="13692188" y="7482036"/>
            <a:ext cx="3714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1875" spc="-2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del Propietario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3692188" y="7882086"/>
            <a:ext cx="371427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4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externo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566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plan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9678"/>
            <a:ext cx="16764000" cy="763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5100" spc="-7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cerrado, verificado fase por fase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52500" y="4433292"/>
            <a:ext cx="14287500" cy="925711"/>
          </a:xfrm>
          <a:prstGeom prst="roundRect">
            <a:avLst>
              <a:gd name="adj" fmla="val 28810"/>
            </a:avLst>
          </a:prstGeom>
          <a:solidFill>
            <a:srgbClr val="F5EAD8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95400" y="4719042"/>
            <a:ext cx="942009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fase se probó con las tres cuentas de rol reales antes de avanzar a la siguiente.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5606653"/>
            <a:ext cx="14287500" cy="925711"/>
          </a:xfrm>
          <a:prstGeom prst="roundRect">
            <a:avLst>
              <a:gd name="adj" fmla="val 28810"/>
            </a:avLst>
          </a:prstGeom>
          <a:solidFill>
            <a:srgbClr val="F5EAD8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5400" y="5892403"/>
            <a:ext cx="920628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decisión de diseño y desviación queda documentada, no resuelta en silencio.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6780014"/>
            <a:ext cx="14287500" cy="925711"/>
          </a:xfrm>
          <a:prstGeom prst="roundRect">
            <a:avLst>
              <a:gd name="adj" fmla="val 28810"/>
            </a:avLst>
          </a:prstGeom>
          <a:solidFill>
            <a:srgbClr val="F5EAD8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95400" y="7065764"/>
            <a:ext cx="983280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cinco fases del desarrollo de los ocho módulos quedaron completadas y verificadas.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C4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49500" y="-1905000"/>
            <a:ext cx="4572000" cy="4572000"/>
          </a:xfrm>
          <a:prstGeom prst="ellipse">
            <a:avLst/>
          </a:prstGeom>
          <a:solidFill>
            <a:srgbClr val="643312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981623"/>
            <a:ext cx="180213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91"/>
              </a:lnSpc>
              <a:buNone/>
            </a:pPr>
            <a:r>
              <a:rPr lang="en-US" sz="7500" spc="-112" kern="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52500" y="4238923"/>
            <a:ext cx="18021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FFF2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VetCare — Sistema de Gestión Veterinaria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5488484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Arcalle Grefa Darwin Orlando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5976045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Coronel Gomez Khriz Alexander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6463605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Quintero Rico Luis David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6951166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F5EA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Sanchez Vera Darwin Joel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2026-08-26T19:16:53Z</dcterms:created>
  <dcterms:modified xsi:type="dcterms:W3CDTF">2026-08-26T19:16:53Z</dcterms:modified>
</cp:coreProperties>
</file>